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uturistic AI Hackathon Presentation" id="{2F936099-85BE-4FAD-8D32-EE415CB6E239}">
          <p14:sldIdLst>
            <p14:sldId id="2561"/>
          </p14:sldIdLst>
        </p14:section>
        <p14:section name="Vision and Purpose" id="{97B3F193-2EAA-4FDC-9B39-D1B4D29CEF7E}">
          <p14:sldIdLst>
            <p14:sldId id="2562"/>
            <p14:sldId id="2563"/>
            <p14:sldId id="2564"/>
          </p14:sldIdLst>
        </p14:section>
        <p14:section name="Problem and Opportunity" id="{61D10A22-C789-4183-965B-D9E77E7EC353}">
          <p14:sldIdLst>
            <p14:sldId id="2565"/>
            <p14:sldId id="2566"/>
            <p14:sldId id="2567"/>
          </p14:sldIdLst>
        </p14:section>
        <p14:section name="Solution and Technology" id="{74823648-A1D5-4074-9000-5952B82E500B}">
          <p14:sldIdLst>
            <p14:sldId id="2568"/>
            <p14:sldId id="2569"/>
            <p14:sldId id="2570"/>
          </p14:sldIdLst>
        </p14:section>
        <p14:section name="Architecture and Impact" id="{79526483-846E-4C08-B036-3C02EE757068}">
          <p14:sldIdLst>
            <p14:sldId id="2571"/>
            <p14:sldId id="2572"/>
            <p14:sldId id="2573"/>
          </p14:sldIdLst>
        </p14:section>
        <p14:section name="Demonstration and Future" id="{22641ACB-9D74-454C-AEAF-729E3E2401AC}">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53242A-7D3D-4869-B3BA-4122104CFE5F}" v="430" dt="2026-04-09T14:22:53.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05D390-4619-47A6-B301-44436B9A7AEA}"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86D8669F-DA24-4983-9D95-FEEB1AEB871A}">
      <dgm:prSet/>
      <dgm:spPr/>
      <dgm:t>
        <a:bodyPr/>
        <a:lstStyle/>
        <a:p>
          <a:pPr>
            <a:lnSpc>
              <a:spcPct val="100000"/>
            </a:lnSpc>
            <a:defRPr b="1"/>
          </a:pPr>
          <a:r>
            <a:rPr lang="en-US"/>
            <a:t>Roadmap for AI Enhancement</a:t>
          </a:r>
        </a:p>
      </dgm:t>
    </dgm:pt>
    <dgm:pt modelId="{48A0ECCD-233B-49BD-8F9E-FEABEEE044BF}" type="parTrans" cxnId="{1E28A6C6-1A4C-4BCD-ADEE-D6128E771CB6}">
      <dgm:prSet/>
      <dgm:spPr/>
      <dgm:t>
        <a:bodyPr/>
        <a:lstStyle/>
        <a:p>
          <a:endParaRPr lang="en-US"/>
        </a:p>
      </dgm:t>
    </dgm:pt>
    <dgm:pt modelId="{9E9F95E7-4A5B-4875-BFA5-E1F2861B64C0}" type="sibTrans" cxnId="{1E28A6C6-1A4C-4BCD-ADEE-D6128E771CB6}">
      <dgm:prSet/>
      <dgm:spPr/>
      <dgm:t>
        <a:bodyPr/>
        <a:lstStyle/>
        <a:p>
          <a:pPr>
            <a:lnSpc>
              <a:spcPct val="100000"/>
            </a:lnSpc>
            <a:defRPr b="1"/>
          </a:pPr>
          <a:endParaRPr lang="en-US"/>
        </a:p>
      </dgm:t>
    </dgm:pt>
    <dgm:pt modelId="{0938825D-CA6B-4362-929A-E2FB5ED77A03}">
      <dgm:prSet/>
      <dgm:spPr/>
      <dgm:t>
        <a:bodyPr/>
        <a:lstStyle/>
        <a:p>
          <a:pPr>
            <a:lnSpc>
              <a:spcPct val="100000"/>
            </a:lnSpc>
          </a:pPr>
          <a:r>
            <a:rPr lang="en-US"/>
            <a:t>Focus on advanced AI models, broader data integration, and scaling for enterprise-wide deployment.</a:t>
          </a:r>
        </a:p>
      </dgm:t>
    </dgm:pt>
    <dgm:pt modelId="{E84BD7F3-4109-47E9-A149-92E10A07659C}" type="parTrans" cxnId="{9F221229-0A98-4743-98E5-F322C83FF52A}">
      <dgm:prSet/>
      <dgm:spPr/>
      <dgm:t>
        <a:bodyPr/>
        <a:lstStyle/>
        <a:p>
          <a:endParaRPr lang="en-US"/>
        </a:p>
      </dgm:t>
    </dgm:pt>
    <dgm:pt modelId="{47E7855B-EDE0-4D5D-9AE5-64F06CDDA76B}" type="sibTrans" cxnId="{9F221229-0A98-4743-98E5-F322C83FF52A}">
      <dgm:prSet/>
      <dgm:spPr/>
      <dgm:t>
        <a:bodyPr/>
        <a:lstStyle/>
        <a:p>
          <a:endParaRPr lang="en-US"/>
        </a:p>
      </dgm:t>
    </dgm:pt>
    <dgm:pt modelId="{09B64825-520E-4036-ACC0-C98DEC765141}">
      <dgm:prSet/>
      <dgm:spPr/>
      <dgm:t>
        <a:bodyPr/>
        <a:lstStyle/>
        <a:p>
          <a:pPr>
            <a:lnSpc>
              <a:spcPct val="100000"/>
            </a:lnSpc>
            <a:defRPr b="1"/>
          </a:pPr>
          <a:r>
            <a:rPr lang="en-US"/>
            <a:t>Planned Improvements</a:t>
          </a:r>
        </a:p>
      </dgm:t>
    </dgm:pt>
    <dgm:pt modelId="{E9958940-8E66-44BC-B8CF-E678E480D89B}" type="parTrans" cxnId="{DDFA33D8-B037-4C3F-816B-B390E1C762C5}">
      <dgm:prSet/>
      <dgm:spPr/>
      <dgm:t>
        <a:bodyPr/>
        <a:lstStyle/>
        <a:p>
          <a:endParaRPr lang="en-US"/>
        </a:p>
      </dgm:t>
    </dgm:pt>
    <dgm:pt modelId="{42D30207-808A-4AF4-8BE5-93C7075C0CD5}" type="sibTrans" cxnId="{DDFA33D8-B037-4C3F-816B-B390E1C762C5}">
      <dgm:prSet/>
      <dgm:spPr/>
      <dgm:t>
        <a:bodyPr/>
        <a:lstStyle/>
        <a:p>
          <a:pPr>
            <a:lnSpc>
              <a:spcPct val="100000"/>
            </a:lnSpc>
            <a:defRPr b="1"/>
          </a:pPr>
          <a:endParaRPr lang="en-US"/>
        </a:p>
      </dgm:t>
    </dgm:pt>
    <dgm:pt modelId="{971D1DBA-4ECE-4C84-AE16-484AEC282E8C}">
      <dgm:prSet/>
      <dgm:spPr/>
      <dgm:t>
        <a:bodyPr/>
        <a:lstStyle/>
        <a:p>
          <a:pPr>
            <a:lnSpc>
              <a:spcPct val="100000"/>
            </a:lnSpc>
          </a:pPr>
          <a:r>
            <a:rPr lang="en-US"/>
            <a:t>Continuous learning, better accuracy, and expanded automation capabilities are key goals.</a:t>
          </a:r>
        </a:p>
      </dgm:t>
    </dgm:pt>
    <dgm:pt modelId="{C8E27513-D131-4886-9807-35A3A550A573}" type="parTrans" cxnId="{F5F70A15-0D0D-4E88-B32C-C32F91EF56B4}">
      <dgm:prSet/>
      <dgm:spPr/>
      <dgm:t>
        <a:bodyPr/>
        <a:lstStyle/>
        <a:p>
          <a:endParaRPr lang="en-US"/>
        </a:p>
      </dgm:t>
    </dgm:pt>
    <dgm:pt modelId="{1047A149-2F62-4F90-A27F-C898527ECC38}" type="sibTrans" cxnId="{F5F70A15-0D0D-4E88-B32C-C32F91EF56B4}">
      <dgm:prSet/>
      <dgm:spPr/>
      <dgm:t>
        <a:bodyPr/>
        <a:lstStyle/>
        <a:p>
          <a:endParaRPr lang="en-US"/>
        </a:p>
      </dgm:t>
    </dgm:pt>
    <dgm:pt modelId="{75C249E7-65CE-4107-AD13-8A4299384126}">
      <dgm:prSet/>
      <dgm:spPr/>
      <dgm:t>
        <a:bodyPr/>
        <a:lstStyle/>
        <a:p>
          <a:pPr>
            <a:lnSpc>
              <a:spcPct val="100000"/>
            </a:lnSpc>
            <a:defRPr b="1"/>
          </a:pPr>
          <a:r>
            <a:rPr lang="en-US"/>
            <a:t>Impactful AI Solutions</a:t>
          </a:r>
        </a:p>
      </dgm:t>
    </dgm:pt>
    <dgm:pt modelId="{F255568D-B44E-4305-BABE-7468B5955446}" type="parTrans" cxnId="{BBC4DB61-B6B4-425A-8A89-A61EC686C1F1}">
      <dgm:prSet/>
      <dgm:spPr/>
      <dgm:t>
        <a:bodyPr/>
        <a:lstStyle/>
        <a:p>
          <a:endParaRPr lang="en-US"/>
        </a:p>
      </dgm:t>
    </dgm:pt>
    <dgm:pt modelId="{34FF3308-9300-4A07-A21C-7604A5D3F7C6}" type="sibTrans" cxnId="{BBC4DB61-B6B4-425A-8A89-A61EC686C1F1}">
      <dgm:prSet/>
      <dgm:spPr/>
      <dgm:t>
        <a:bodyPr/>
        <a:lstStyle/>
        <a:p>
          <a:endParaRPr lang="en-US"/>
        </a:p>
      </dgm:t>
    </dgm:pt>
    <dgm:pt modelId="{D4F960C8-BCA0-4B74-AA8D-6E80169D01B1}">
      <dgm:prSet/>
      <dgm:spPr/>
      <dgm:t>
        <a:bodyPr/>
        <a:lstStyle/>
        <a:p>
          <a:pPr>
            <a:lnSpc>
              <a:spcPct val="100000"/>
            </a:lnSpc>
          </a:pPr>
          <a:r>
            <a:rPr lang="en-US"/>
            <a:t>Collaboration and innovation deliver AI that drives meaningful change today and in the future.</a:t>
          </a:r>
        </a:p>
      </dgm:t>
    </dgm:pt>
    <dgm:pt modelId="{8FF76E71-A6B7-431C-B0AA-F90D89B6F8A9}" type="parTrans" cxnId="{342BA7CB-5A9D-4720-86D1-585DA71CA982}">
      <dgm:prSet/>
      <dgm:spPr/>
      <dgm:t>
        <a:bodyPr/>
        <a:lstStyle/>
        <a:p>
          <a:endParaRPr lang="en-US"/>
        </a:p>
      </dgm:t>
    </dgm:pt>
    <dgm:pt modelId="{5478D685-303F-4A37-B76A-B17E3724370A}" type="sibTrans" cxnId="{342BA7CB-5A9D-4720-86D1-585DA71CA982}">
      <dgm:prSet/>
      <dgm:spPr/>
      <dgm:t>
        <a:bodyPr/>
        <a:lstStyle/>
        <a:p>
          <a:endParaRPr lang="en-US"/>
        </a:p>
      </dgm:t>
    </dgm:pt>
    <dgm:pt modelId="{28D9FA4F-E4E0-421A-91A4-3FAB940DC74C}" type="pres">
      <dgm:prSet presAssocID="{7005D390-4619-47A6-B301-44436B9A7AEA}" presName="Root" presStyleCnt="0">
        <dgm:presLayoutVars>
          <dgm:dir/>
          <dgm:resizeHandles val="exact"/>
        </dgm:presLayoutVars>
      </dgm:prSet>
      <dgm:spPr/>
    </dgm:pt>
    <dgm:pt modelId="{E3840550-2328-4694-A185-BF253301CD46}" type="pres">
      <dgm:prSet presAssocID="{86D8669F-DA24-4983-9D95-FEEB1AEB871A}" presName="Composite" presStyleCnt="0"/>
      <dgm:spPr/>
    </dgm:pt>
    <dgm:pt modelId="{FC2D9BE0-1587-44A5-B9D0-29030B67AF8A}" type="pres">
      <dgm:prSet presAssocID="{86D8669F-DA24-4983-9D95-FEEB1AEB871A}"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39663" r="331" b="-9"/>
          <a:stretch/>
        </a:blipFill>
      </dgm:spPr>
      <dgm:extLst>
        <a:ext uri="{E40237B7-FDA0-4F09-8148-C483321AD2D9}">
          <dgm14:cNvPr xmlns:dgm14="http://schemas.microsoft.com/office/drawing/2010/diagram" id="0" name="" descr="Abstract background"/>
        </a:ext>
      </dgm:extLst>
    </dgm:pt>
    <dgm:pt modelId="{BE65CEF8-5DE7-4F43-B13F-4638B11FE474}" type="pres">
      <dgm:prSet presAssocID="{86D8669F-DA24-4983-9D95-FEEB1AEB871A}" presName="Subtitle" presStyleLbl="revTx" presStyleIdx="0" presStyleCnt="6">
        <dgm:presLayoutVars>
          <dgm:chMax val="0"/>
          <dgm:bulletEnabled/>
        </dgm:presLayoutVars>
      </dgm:prSet>
      <dgm:spPr/>
    </dgm:pt>
    <dgm:pt modelId="{F41F1E0C-9A49-4E18-877A-5AAB2BEBFDBD}" type="pres">
      <dgm:prSet presAssocID="{86D8669F-DA24-4983-9D95-FEEB1AEB871A}" presName="Description" presStyleLbl="revTx" presStyleIdx="1" presStyleCnt="6">
        <dgm:presLayoutVars>
          <dgm:bulletEnabled/>
        </dgm:presLayoutVars>
      </dgm:prSet>
      <dgm:spPr/>
    </dgm:pt>
    <dgm:pt modelId="{65B9D5F3-510A-4AF2-995C-6A20D162FD2A}" type="pres">
      <dgm:prSet presAssocID="{9E9F95E7-4A5B-4875-BFA5-E1F2861B64C0}" presName="sibTrans" presStyleLbl="sibTrans2D1" presStyleIdx="0" presStyleCnt="0"/>
      <dgm:spPr/>
    </dgm:pt>
    <dgm:pt modelId="{27917D51-7FBC-4B35-B74A-2DD20E235E1A}" type="pres">
      <dgm:prSet presAssocID="{09B64825-520E-4036-ACC0-C98DEC765141}" presName="Composite" presStyleCnt="0"/>
      <dgm:spPr/>
    </dgm:pt>
    <dgm:pt modelId="{ED1818A9-C631-438F-827F-D7B60D62C7C1}" type="pres">
      <dgm:prSet presAssocID="{09B64825-520E-4036-ACC0-C98DEC765141}"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14970" r="28777" b="-6"/>
          <a:stretch/>
        </a:blipFill>
      </dgm:spPr>
      <dgm:extLst>
        <a:ext uri="{E40237B7-FDA0-4F09-8148-C483321AD2D9}">
          <dgm14:cNvPr xmlns:dgm14="http://schemas.microsoft.com/office/drawing/2010/diagram" id="0" name="" descr="Android, Deep Learning, Artificial Intelligence Background"/>
        </a:ext>
      </dgm:extLst>
    </dgm:pt>
    <dgm:pt modelId="{2F1782F5-81AB-4C43-A493-94596A26F3B8}" type="pres">
      <dgm:prSet presAssocID="{09B64825-520E-4036-ACC0-C98DEC765141}" presName="Subtitle" presStyleLbl="revTx" presStyleIdx="2" presStyleCnt="6">
        <dgm:presLayoutVars>
          <dgm:chMax val="0"/>
          <dgm:bulletEnabled/>
        </dgm:presLayoutVars>
      </dgm:prSet>
      <dgm:spPr/>
    </dgm:pt>
    <dgm:pt modelId="{99C1AC61-E87B-4BC9-9D4B-1F34C01B5097}" type="pres">
      <dgm:prSet presAssocID="{09B64825-520E-4036-ACC0-C98DEC765141}" presName="Description" presStyleLbl="revTx" presStyleIdx="3" presStyleCnt="6">
        <dgm:presLayoutVars>
          <dgm:bulletEnabled/>
        </dgm:presLayoutVars>
      </dgm:prSet>
      <dgm:spPr/>
    </dgm:pt>
    <dgm:pt modelId="{75284B7C-1EC7-4987-A090-20090C36564E}" type="pres">
      <dgm:prSet presAssocID="{42D30207-808A-4AF4-8BE5-93C7075C0CD5}" presName="sibTrans" presStyleLbl="sibTrans2D1" presStyleIdx="0" presStyleCnt="0"/>
      <dgm:spPr/>
    </dgm:pt>
    <dgm:pt modelId="{C35FBB16-825C-4607-9F48-1DCBFDBBD99C}" type="pres">
      <dgm:prSet presAssocID="{75C249E7-65CE-4107-AD13-8A4299384126}" presName="Composite" presStyleCnt="0"/>
      <dgm:spPr/>
    </dgm:pt>
    <dgm:pt modelId="{16F61EC3-2EB4-427D-B8F5-AC96C3114AD1}" type="pres">
      <dgm:prSet presAssocID="{75C249E7-65CE-4107-AD13-8A4299384126}"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23005" r="10245"/>
          <a:stretch/>
        </a:blipFill>
      </dgm:spPr>
      <dgm:extLst>
        <a:ext uri="{E40237B7-FDA0-4F09-8148-C483321AD2D9}">
          <dgm14:cNvPr xmlns:dgm14="http://schemas.microsoft.com/office/drawing/2010/diagram" id="0" name="" descr="Three people wearing headphones using computer"/>
        </a:ext>
      </dgm:extLst>
    </dgm:pt>
    <dgm:pt modelId="{AD42A542-4163-4105-81CB-564F741F24A0}" type="pres">
      <dgm:prSet presAssocID="{75C249E7-65CE-4107-AD13-8A4299384126}" presName="Subtitle" presStyleLbl="revTx" presStyleIdx="4" presStyleCnt="6">
        <dgm:presLayoutVars>
          <dgm:chMax val="0"/>
          <dgm:bulletEnabled/>
        </dgm:presLayoutVars>
      </dgm:prSet>
      <dgm:spPr/>
    </dgm:pt>
    <dgm:pt modelId="{5E286723-0D70-47E4-8B00-8619BDF58AA5}" type="pres">
      <dgm:prSet presAssocID="{75C249E7-65CE-4107-AD13-8A4299384126}" presName="Description" presStyleLbl="revTx" presStyleIdx="5" presStyleCnt="6">
        <dgm:presLayoutVars>
          <dgm:bulletEnabled/>
        </dgm:presLayoutVars>
      </dgm:prSet>
      <dgm:spPr/>
    </dgm:pt>
  </dgm:ptLst>
  <dgm:cxnLst>
    <dgm:cxn modelId="{F5F70A15-0D0D-4E88-B32C-C32F91EF56B4}" srcId="{09B64825-520E-4036-ACC0-C98DEC765141}" destId="{971D1DBA-4ECE-4C84-AE16-484AEC282E8C}" srcOrd="0" destOrd="0" parTransId="{C8E27513-D131-4886-9807-35A3A550A573}" sibTransId="{1047A149-2F62-4F90-A27F-C898527ECC38}"/>
    <dgm:cxn modelId="{9F221229-0A98-4743-98E5-F322C83FF52A}" srcId="{86D8669F-DA24-4983-9D95-FEEB1AEB871A}" destId="{0938825D-CA6B-4362-929A-E2FB5ED77A03}" srcOrd="0" destOrd="0" parTransId="{E84BD7F3-4109-47E9-A149-92E10A07659C}" sibTransId="{47E7855B-EDE0-4D5D-9AE5-64F06CDDA76B}"/>
    <dgm:cxn modelId="{BBE57B61-3E9F-441F-A4AB-9E1B3C7466D4}" type="presOf" srcId="{9E9F95E7-4A5B-4875-BFA5-E1F2861B64C0}" destId="{65B9D5F3-510A-4AF2-995C-6A20D162FD2A}" srcOrd="0" destOrd="0" presId="urn:microsoft.com/office/officeart/2024/3/layout/verticalVisualTextBlock1"/>
    <dgm:cxn modelId="{BBC4DB61-B6B4-425A-8A89-A61EC686C1F1}" srcId="{7005D390-4619-47A6-B301-44436B9A7AEA}" destId="{75C249E7-65CE-4107-AD13-8A4299384126}" srcOrd="2" destOrd="0" parTransId="{F255568D-B44E-4305-BABE-7468B5955446}" sibTransId="{34FF3308-9300-4A07-A21C-7604A5D3F7C6}"/>
    <dgm:cxn modelId="{C8EB3154-119F-478E-93B2-9711E88330E5}" type="presOf" srcId="{D4F960C8-BCA0-4B74-AA8D-6E80169D01B1}" destId="{5E286723-0D70-47E4-8B00-8619BDF58AA5}" srcOrd="0" destOrd="0" presId="urn:microsoft.com/office/officeart/2024/3/layout/verticalVisualTextBlock1"/>
    <dgm:cxn modelId="{C36E477E-1316-4E46-9AAA-EF75B9A08F08}" type="presOf" srcId="{75C249E7-65CE-4107-AD13-8A4299384126}" destId="{AD42A542-4163-4105-81CB-564F741F24A0}" srcOrd="0" destOrd="0" presId="urn:microsoft.com/office/officeart/2024/3/layout/verticalVisualTextBlock1"/>
    <dgm:cxn modelId="{18F2A8B2-B0CB-4754-B7D7-1E84DB89B12C}" type="presOf" srcId="{09B64825-520E-4036-ACC0-C98DEC765141}" destId="{2F1782F5-81AB-4C43-A493-94596A26F3B8}" srcOrd="0" destOrd="0" presId="urn:microsoft.com/office/officeart/2024/3/layout/verticalVisualTextBlock1"/>
    <dgm:cxn modelId="{D80658C2-E8A1-4CE3-9559-78EB43563F42}" type="presOf" srcId="{0938825D-CA6B-4362-929A-E2FB5ED77A03}" destId="{F41F1E0C-9A49-4E18-877A-5AAB2BEBFDBD}" srcOrd="0" destOrd="0" presId="urn:microsoft.com/office/officeart/2024/3/layout/verticalVisualTextBlock1"/>
    <dgm:cxn modelId="{35AB9BC2-5E33-430A-ACFD-C002D8E68F3C}" type="presOf" srcId="{42D30207-808A-4AF4-8BE5-93C7075C0CD5}" destId="{75284B7C-1EC7-4987-A090-20090C36564E}" srcOrd="0" destOrd="0" presId="urn:microsoft.com/office/officeart/2024/3/layout/verticalVisualTextBlock1"/>
    <dgm:cxn modelId="{1E28A6C6-1A4C-4BCD-ADEE-D6128E771CB6}" srcId="{7005D390-4619-47A6-B301-44436B9A7AEA}" destId="{86D8669F-DA24-4983-9D95-FEEB1AEB871A}" srcOrd="0" destOrd="0" parTransId="{48A0ECCD-233B-49BD-8F9E-FEABEEE044BF}" sibTransId="{9E9F95E7-4A5B-4875-BFA5-E1F2861B64C0}"/>
    <dgm:cxn modelId="{342BA7CB-5A9D-4720-86D1-585DA71CA982}" srcId="{75C249E7-65CE-4107-AD13-8A4299384126}" destId="{D4F960C8-BCA0-4B74-AA8D-6E80169D01B1}" srcOrd="0" destOrd="0" parTransId="{8FF76E71-A6B7-431C-B0AA-F90D89B6F8A9}" sibTransId="{5478D685-303F-4A37-B76A-B17E3724370A}"/>
    <dgm:cxn modelId="{8B6EDDD6-E7E0-4D74-A0FF-C32DB6763005}" type="presOf" srcId="{971D1DBA-4ECE-4C84-AE16-484AEC282E8C}" destId="{99C1AC61-E87B-4BC9-9D4B-1F34C01B5097}" srcOrd="0" destOrd="0" presId="urn:microsoft.com/office/officeart/2024/3/layout/verticalVisualTextBlock1"/>
    <dgm:cxn modelId="{DDFA33D8-B037-4C3F-816B-B390E1C762C5}" srcId="{7005D390-4619-47A6-B301-44436B9A7AEA}" destId="{09B64825-520E-4036-ACC0-C98DEC765141}" srcOrd="1" destOrd="0" parTransId="{E9958940-8E66-44BC-B8CF-E678E480D89B}" sibTransId="{42D30207-808A-4AF4-8BE5-93C7075C0CD5}"/>
    <dgm:cxn modelId="{FDADE7EA-BEE6-46FD-ACF3-24CB3B577E88}" type="presOf" srcId="{86D8669F-DA24-4983-9D95-FEEB1AEB871A}" destId="{BE65CEF8-5DE7-4F43-B13F-4638B11FE474}" srcOrd="0" destOrd="0" presId="urn:microsoft.com/office/officeart/2024/3/layout/verticalVisualTextBlock1"/>
    <dgm:cxn modelId="{76735DF9-D6A6-40C1-89DE-139F4A9DBB3A}" type="presOf" srcId="{7005D390-4619-47A6-B301-44436B9A7AEA}" destId="{28D9FA4F-E4E0-421A-91A4-3FAB940DC74C}" srcOrd="0" destOrd="0" presId="urn:microsoft.com/office/officeart/2024/3/layout/verticalVisualTextBlock1"/>
    <dgm:cxn modelId="{14D10C06-0D31-4A1B-83E6-EDBCD7EDA8A2}" type="presParOf" srcId="{28D9FA4F-E4E0-421A-91A4-3FAB940DC74C}" destId="{E3840550-2328-4694-A185-BF253301CD46}" srcOrd="0" destOrd="0" presId="urn:microsoft.com/office/officeart/2024/3/layout/verticalVisualTextBlock1"/>
    <dgm:cxn modelId="{C2914460-2534-4BDA-A3CF-F5CC2BA5E8E7}" type="presParOf" srcId="{E3840550-2328-4694-A185-BF253301CD46}" destId="{FC2D9BE0-1587-44A5-B9D0-29030B67AF8A}" srcOrd="0" destOrd="0" presId="urn:microsoft.com/office/officeart/2024/3/layout/verticalVisualTextBlock1"/>
    <dgm:cxn modelId="{79C183AF-E125-4EDD-B9F5-F4D80D23FD81}" type="presParOf" srcId="{E3840550-2328-4694-A185-BF253301CD46}" destId="{BE65CEF8-5DE7-4F43-B13F-4638B11FE474}" srcOrd="1" destOrd="0" presId="urn:microsoft.com/office/officeart/2024/3/layout/verticalVisualTextBlock1"/>
    <dgm:cxn modelId="{07DAF221-D883-423A-859E-E767EBA427A8}" type="presParOf" srcId="{E3840550-2328-4694-A185-BF253301CD46}" destId="{F41F1E0C-9A49-4E18-877A-5AAB2BEBFDBD}" srcOrd="2" destOrd="0" presId="urn:microsoft.com/office/officeart/2024/3/layout/verticalVisualTextBlock1"/>
    <dgm:cxn modelId="{7011B11F-DAE5-4484-940C-626BE8FD8A49}" type="presParOf" srcId="{28D9FA4F-E4E0-421A-91A4-3FAB940DC74C}" destId="{65B9D5F3-510A-4AF2-995C-6A20D162FD2A}" srcOrd="1" destOrd="0" presId="urn:microsoft.com/office/officeart/2024/3/layout/verticalVisualTextBlock1"/>
    <dgm:cxn modelId="{C09873DE-CF6C-4F30-9AA9-C984E203F117}" type="presParOf" srcId="{28D9FA4F-E4E0-421A-91A4-3FAB940DC74C}" destId="{27917D51-7FBC-4B35-B74A-2DD20E235E1A}" srcOrd="2" destOrd="0" presId="urn:microsoft.com/office/officeart/2024/3/layout/verticalVisualTextBlock1"/>
    <dgm:cxn modelId="{CA76D7CB-966C-4A8C-BC65-28E009F46214}" type="presParOf" srcId="{27917D51-7FBC-4B35-B74A-2DD20E235E1A}" destId="{ED1818A9-C631-438F-827F-D7B60D62C7C1}" srcOrd="0" destOrd="0" presId="urn:microsoft.com/office/officeart/2024/3/layout/verticalVisualTextBlock1"/>
    <dgm:cxn modelId="{4607BA3A-2A26-4693-8645-A981403DCC8D}" type="presParOf" srcId="{27917D51-7FBC-4B35-B74A-2DD20E235E1A}" destId="{2F1782F5-81AB-4C43-A493-94596A26F3B8}" srcOrd="1" destOrd="0" presId="urn:microsoft.com/office/officeart/2024/3/layout/verticalVisualTextBlock1"/>
    <dgm:cxn modelId="{DD234A50-D8DB-487F-BB54-80EF7B50CF2E}" type="presParOf" srcId="{27917D51-7FBC-4B35-B74A-2DD20E235E1A}" destId="{99C1AC61-E87B-4BC9-9D4B-1F34C01B5097}" srcOrd="2" destOrd="0" presId="urn:microsoft.com/office/officeart/2024/3/layout/verticalVisualTextBlock1"/>
    <dgm:cxn modelId="{DF78B4D9-63AD-49E1-972C-9609F0ED0818}" type="presParOf" srcId="{28D9FA4F-E4E0-421A-91A4-3FAB940DC74C}" destId="{75284B7C-1EC7-4987-A090-20090C36564E}" srcOrd="3" destOrd="0" presId="urn:microsoft.com/office/officeart/2024/3/layout/verticalVisualTextBlock1"/>
    <dgm:cxn modelId="{4EC2D07C-C46C-400B-BD36-3586B80A6D53}" type="presParOf" srcId="{28D9FA4F-E4E0-421A-91A4-3FAB940DC74C}" destId="{C35FBB16-825C-4607-9F48-1DCBFDBBD99C}" srcOrd="4" destOrd="0" presId="urn:microsoft.com/office/officeart/2024/3/layout/verticalVisualTextBlock1"/>
    <dgm:cxn modelId="{C2546F1C-361B-4577-B065-E232433753B9}" type="presParOf" srcId="{C35FBB16-825C-4607-9F48-1DCBFDBBD99C}" destId="{16F61EC3-2EB4-427D-B8F5-AC96C3114AD1}" srcOrd="0" destOrd="0" presId="urn:microsoft.com/office/officeart/2024/3/layout/verticalVisualTextBlock1"/>
    <dgm:cxn modelId="{2901D117-6F60-4178-9EFE-E0FD7D0C5E87}" type="presParOf" srcId="{C35FBB16-825C-4607-9F48-1DCBFDBBD99C}" destId="{AD42A542-4163-4105-81CB-564F741F24A0}" srcOrd="1" destOrd="0" presId="urn:microsoft.com/office/officeart/2024/3/layout/verticalVisualTextBlock1"/>
    <dgm:cxn modelId="{3853B998-56AA-4469-827D-8D4FCEE58362}" type="presParOf" srcId="{C35FBB16-825C-4607-9F48-1DCBFDBBD99C}" destId="{5E286723-0D70-47E4-8B00-8619BDF58AA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D9BE0-1587-44A5-B9D0-29030B67AF8A}">
      <dsp:nvSpPr>
        <dsp:cNvPr id="0" name=""/>
        <dsp:cNvSpPr/>
      </dsp:nvSpPr>
      <dsp:spPr>
        <a:xfrm>
          <a:off x="0" y="0"/>
          <a:ext cx="1446609" cy="144660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39663" r="331" b="-9"/>
          <a:stretch/>
        </a:blipFill>
        <a:ln>
          <a:noFill/>
        </a:ln>
        <a:effectLst/>
      </dsp:spPr>
      <dsp:style>
        <a:lnRef idx="0">
          <a:scrgbClr r="0" g="0" b="0"/>
        </a:lnRef>
        <a:fillRef idx="3">
          <a:scrgbClr r="0" g="0" b="0"/>
        </a:fillRef>
        <a:effectRef idx="2">
          <a:scrgbClr r="0" g="0" b="0"/>
        </a:effectRef>
        <a:fontRef idx="minor">
          <a:schemeClr val="lt1"/>
        </a:fontRef>
      </dsp:style>
    </dsp:sp>
    <dsp:sp modelId="{BE65CEF8-5DE7-4F43-B13F-4638B11FE474}">
      <dsp:nvSpPr>
        <dsp:cNvPr id="0" name=""/>
        <dsp:cNvSpPr/>
      </dsp:nvSpPr>
      <dsp:spPr>
        <a:xfrm>
          <a:off x="1626609" y="0"/>
          <a:ext cx="8358638" cy="344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Roadmap for AI Enhancement</a:t>
          </a:r>
        </a:p>
      </dsp:txBody>
      <dsp:txXfrm>
        <a:off x="1626609" y="0"/>
        <a:ext cx="8358638" cy="344585"/>
      </dsp:txXfrm>
    </dsp:sp>
    <dsp:sp modelId="{F41F1E0C-9A49-4E18-877A-5AAB2BEBFDBD}">
      <dsp:nvSpPr>
        <dsp:cNvPr id="0" name=""/>
        <dsp:cNvSpPr/>
      </dsp:nvSpPr>
      <dsp:spPr>
        <a:xfrm>
          <a:off x="1626609" y="344585"/>
          <a:ext cx="8358638" cy="110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Focus on advanced AI models, broader data integration, and scaling for enterprise-wide deployment.</a:t>
          </a:r>
        </a:p>
      </dsp:txBody>
      <dsp:txXfrm>
        <a:off x="1626609" y="344585"/>
        <a:ext cx="8358638" cy="1102023"/>
      </dsp:txXfrm>
    </dsp:sp>
    <dsp:sp modelId="{ED1818A9-C631-438F-827F-D7B60D62C7C1}">
      <dsp:nvSpPr>
        <dsp:cNvPr id="0" name=""/>
        <dsp:cNvSpPr/>
      </dsp:nvSpPr>
      <dsp:spPr>
        <a:xfrm>
          <a:off x="0" y="1562338"/>
          <a:ext cx="1446609" cy="1446609"/>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14970" r="28777" b="-6"/>
          <a:stretch/>
        </a:blipFill>
        <a:ln>
          <a:noFill/>
        </a:ln>
        <a:effectLst/>
      </dsp:spPr>
      <dsp:style>
        <a:lnRef idx="0">
          <a:scrgbClr r="0" g="0" b="0"/>
        </a:lnRef>
        <a:fillRef idx="3">
          <a:scrgbClr r="0" g="0" b="0"/>
        </a:fillRef>
        <a:effectRef idx="2">
          <a:scrgbClr r="0" g="0" b="0"/>
        </a:effectRef>
        <a:fontRef idx="minor">
          <a:schemeClr val="lt1"/>
        </a:fontRef>
      </dsp:style>
    </dsp:sp>
    <dsp:sp modelId="{2F1782F5-81AB-4C43-A493-94596A26F3B8}">
      <dsp:nvSpPr>
        <dsp:cNvPr id="0" name=""/>
        <dsp:cNvSpPr/>
      </dsp:nvSpPr>
      <dsp:spPr>
        <a:xfrm>
          <a:off x="1626609" y="1562338"/>
          <a:ext cx="8358638" cy="344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Planned Improvements</a:t>
          </a:r>
        </a:p>
      </dsp:txBody>
      <dsp:txXfrm>
        <a:off x="1626609" y="1562338"/>
        <a:ext cx="8358638" cy="344585"/>
      </dsp:txXfrm>
    </dsp:sp>
    <dsp:sp modelId="{99C1AC61-E87B-4BC9-9D4B-1F34C01B5097}">
      <dsp:nvSpPr>
        <dsp:cNvPr id="0" name=""/>
        <dsp:cNvSpPr/>
      </dsp:nvSpPr>
      <dsp:spPr>
        <a:xfrm>
          <a:off x="1626609" y="1906923"/>
          <a:ext cx="8358638" cy="110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Continuous learning, better accuracy, and expanded automation capabilities are key goals.</a:t>
          </a:r>
        </a:p>
      </dsp:txBody>
      <dsp:txXfrm>
        <a:off x="1626609" y="1906923"/>
        <a:ext cx="8358638" cy="1102023"/>
      </dsp:txXfrm>
    </dsp:sp>
    <dsp:sp modelId="{16F61EC3-2EB4-427D-B8F5-AC96C3114AD1}">
      <dsp:nvSpPr>
        <dsp:cNvPr id="0" name=""/>
        <dsp:cNvSpPr/>
      </dsp:nvSpPr>
      <dsp:spPr>
        <a:xfrm>
          <a:off x="0" y="3124676"/>
          <a:ext cx="1446609" cy="144660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23005" r="10245"/>
          <a:stretch/>
        </a:blipFill>
        <a:ln>
          <a:noFill/>
        </a:ln>
        <a:effectLst/>
      </dsp:spPr>
      <dsp:style>
        <a:lnRef idx="0">
          <a:scrgbClr r="0" g="0" b="0"/>
        </a:lnRef>
        <a:fillRef idx="3">
          <a:scrgbClr r="0" g="0" b="0"/>
        </a:fillRef>
        <a:effectRef idx="2">
          <a:scrgbClr r="0" g="0" b="0"/>
        </a:effectRef>
        <a:fontRef idx="minor">
          <a:schemeClr val="lt1"/>
        </a:fontRef>
      </dsp:style>
    </dsp:sp>
    <dsp:sp modelId="{AD42A542-4163-4105-81CB-564F741F24A0}">
      <dsp:nvSpPr>
        <dsp:cNvPr id="0" name=""/>
        <dsp:cNvSpPr/>
      </dsp:nvSpPr>
      <dsp:spPr>
        <a:xfrm>
          <a:off x="1626609" y="3124676"/>
          <a:ext cx="8358638" cy="344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Impactful AI Solutions</a:t>
          </a:r>
        </a:p>
      </dsp:txBody>
      <dsp:txXfrm>
        <a:off x="1626609" y="3124676"/>
        <a:ext cx="8358638" cy="344585"/>
      </dsp:txXfrm>
    </dsp:sp>
    <dsp:sp modelId="{5E286723-0D70-47E4-8B00-8619BDF58AA5}">
      <dsp:nvSpPr>
        <dsp:cNvPr id="0" name=""/>
        <dsp:cNvSpPr/>
      </dsp:nvSpPr>
      <dsp:spPr>
        <a:xfrm>
          <a:off x="1626609" y="3469261"/>
          <a:ext cx="8358638" cy="110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Collaboration and innovation deliver AI that drives meaningful change today and in the future.</a:t>
          </a:r>
        </a:p>
      </dsp:txBody>
      <dsp:txXfrm>
        <a:off x="1626609" y="3469261"/>
        <a:ext cx="8358638" cy="110202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C299C6-6E1A-46CE-8857-3D81D0FB1ED8}" type="datetimeFigureOut">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9B047-CE07-47F0-9943-6629110D672A}" type="slidenum">
              <a:t>‹#›</a:t>
            </a:fld>
            <a:endParaRPr lang="en-US"/>
          </a:p>
        </p:txBody>
      </p:sp>
    </p:spTree>
    <p:extLst>
      <p:ext uri="{BB962C8B-B14F-4D97-AF65-F5344CB8AC3E}">
        <p14:creationId xmlns:p14="http://schemas.microsoft.com/office/powerpoint/2010/main" val="388284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A673118-8661-43EC-ADCD-0BEBE9E72107}" type="slidenum">
              <a:t>1</a:t>
            </a:fld>
            <a:endParaRPr lang="en-US"/>
          </a:p>
        </p:txBody>
      </p:sp>
    </p:spTree>
    <p:extLst>
      <p:ext uri="{BB962C8B-B14F-4D97-AF65-F5344CB8AC3E}">
        <p14:creationId xmlns:p14="http://schemas.microsoft.com/office/powerpoint/2010/main" val="3027935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Hackathon 2026: Innovate, Automate, Accelerate, Why an AI Hackathon Matters Today</a:t>
            </a:r>
          </a:p>
        </p:txBody>
      </p:sp>
      <p:sp>
        <p:nvSpPr>
          <p:cNvPr id="4" name="Slide Number Placeholder 3"/>
          <p:cNvSpPr>
            <a:spLocks noGrp="1"/>
          </p:cNvSpPr>
          <p:nvPr>
            <p:ph type="sldNum" sz="quarter" idx="5"/>
          </p:nvPr>
        </p:nvSpPr>
        <p:spPr/>
        <p:txBody>
          <a:bodyPr/>
          <a:lstStyle/>
          <a:p>
            <a:fld id="{BA673118-8661-43EC-ADCD-0BEBE9E72107}" type="slidenum">
              <a:t>2</a:t>
            </a:fld>
            <a:endParaRPr lang="en-US"/>
          </a:p>
        </p:txBody>
      </p:sp>
    </p:spTree>
    <p:extLst>
      <p:ext uri="{BB962C8B-B14F-4D97-AF65-F5344CB8AC3E}">
        <p14:creationId xmlns:p14="http://schemas.microsoft.com/office/powerpoint/2010/main" val="3388656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AI Hackathon 2026 is designed as a future-focused innovation platform that brings together creative minds, technologists, and problem solvers to build intelligent solutions for real-world challenges. This hackathon emphasizes not just coding, but purposeful innovation—where artificial intelligence is applied to automate processes, enhance decision-making, and accelerate business outcomes. The central vision is to create a collaborative environment that encourages experimentation, rapid prototyping, and bold thinking using modern AI technologies such as machine learning, generative AI, and intelligent automation. Participants are challenged to move beyond theoretical ideas and instead build practical, scalable solutions that can be demonstrated, evaluated, and potentially adopted in real business environments. The theme “Innovate, Automate, Accelerate” reflects three core objectives: fostering innovation through creative problem-solving, leveraging AI to automate manual or repetitive tasks, and accelerating productivity, efficiency, and insight generation. This hackathon also serves as a learning and growth opportunity, allowing participants to gain hands-on experience with cutting-edge tools, cloud platforms, and AI frameworks while collaborating across domains. By encouraging cross-functional teamwork and time-bound execution, the event mirrors real-world innovation cycles, preparing participants for future AI-driven workplaces. Ultimately, the AI Hackathon 2026 aims to act as a launchpad for transformative ideas that demonstrate how AI can responsibly and effectively shape the future of work, technology, and business.</a:t>
            </a:r>
          </a:p>
        </p:txBody>
      </p:sp>
      <p:sp>
        <p:nvSpPr>
          <p:cNvPr id="4" name="Slide Number Placeholder 3"/>
          <p:cNvSpPr>
            <a:spLocks noGrp="1"/>
          </p:cNvSpPr>
          <p:nvPr>
            <p:ph type="sldNum" sz="quarter" idx="5"/>
          </p:nvPr>
        </p:nvSpPr>
        <p:spPr/>
        <p:txBody>
          <a:bodyPr/>
          <a:lstStyle/>
          <a:p>
            <a:fld id="{BA673118-8661-43EC-ADCD-0BEBE9E72107}" type="slidenum">
              <a:t>3</a:t>
            </a:fld>
            <a:endParaRPr lang="en-US"/>
          </a:p>
        </p:txBody>
      </p:sp>
    </p:spTree>
    <p:extLst>
      <p:ext uri="{BB962C8B-B14F-4D97-AF65-F5344CB8AC3E}">
        <p14:creationId xmlns:p14="http://schemas.microsoft.com/office/powerpoint/2010/main" val="3310407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today’s rapidly evolving digital landscape, organizations are under constant pressure to innovate faster while managing increasing complexity and data volumes. An AI hackathon provides a focused and impactful way to address these challenges by encouraging teams to think creatively and apply artificial intelligence to meaningful problems. Many industries still rely on manual processes, fragmented systems, and underutilized data, which leads to inefficiencies, delays, and missed opportunities. An AI hackathon directly targets these pain points by creating solutions that demonstrate how automation, predictive analytics, and intelligent decision systems can drive measurable improvements. Additionally, hackathons foster a culture of innovation by empowering individuals to experiment without the fear of failure, promoting learning through hands-on development. They also help bridge the gap between business needs and technical capabilities, as participants must align their solutions with real use cases and outcomes. From a strategic perspective, AI hackathons act as incubators for future-ready ideas, enabling organizations to identify high-potential concepts and talent. They also accelerate digital transformation by showcasing what is possible with modern AI tools in a short time frame. In essence, an AI hackathon is not just a competition; it is a catalyst for innovation, skill development, and long-term value creation in an AI-driven world.</a:t>
            </a:r>
          </a:p>
        </p:txBody>
      </p:sp>
      <p:sp>
        <p:nvSpPr>
          <p:cNvPr id="4" name="Slide Number Placeholder 3"/>
          <p:cNvSpPr>
            <a:spLocks noGrp="1"/>
          </p:cNvSpPr>
          <p:nvPr>
            <p:ph type="sldNum" sz="quarter" idx="5"/>
          </p:nvPr>
        </p:nvSpPr>
        <p:spPr/>
        <p:txBody>
          <a:bodyPr/>
          <a:lstStyle/>
          <a:p>
            <a:fld id="{BA673118-8661-43EC-ADCD-0BEBE9E72107}" type="slidenum">
              <a:t>4</a:t>
            </a:fld>
            <a:endParaRPr lang="en-US"/>
          </a:p>
        </p:txBody>
      </p:sp>
    </p:spTree>
    <p:extLst>
      <p:ext uri="{BB962C8B-B14F-4D97-AF65-F5344CB8AC3E}">
        <p14:creationId xmlns:p14="http://schemas.microsoft.com/office/powerpoint/2010/main" val="1587069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Identifying the Core Problem Statement, Opportunity for AI-Driven Transformation</a:t>
            </a:r>
          </a:p>
        </p:txBody>
      </p:sp>
      <p:sp>
        <p:nvSpPr>
          <p:cNvPr id="4" name="Slide Number Placeholder 3"/>
          <p:cNvSpPr>
            <a:spLocks noGrp="1"/>
          </p:cNvSpPr>
          <p:nvPr>
            <p:ph type="sldNum" sz="quarter" idx="5"/>
          </p:nvPr>
        </p:nvSpPr>
        <p:spPr/>
        <p:txBody>
          <a:bodyPr/>
          <a:lstStyle/>
          <a:p>
            <a:fld id="{BA673118-8661-43EC-ADCD-0BEBE9E72107}" type="slidenum">
              <a:t>5</a:t>
            </a:fld>
            <a:endParaRPr lang="en-US"/>
          </a:p>
        </p:txBody>
      </p:sp>
    </p:spTree>
    <p:extLst>
      <p:ext uri="{BB962C8B-B14F-4D97-AF65-F5344CB8AC3E}">
        <p14:creationId xmlns:p14="http://schemas.microsoft.com/office/powerpoint/2010/main" val="3606685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problem addressed in this AI hackathon centers around inefficiencies caused by manual processes, delayed decision-making, and the underutilization of available data. In many operational environments, critical tasks still depend on human intervention for data entry, validation, analysis, and approval, leading to longer turnaround times and higher error rates. Additionally, while organizations collect vast amounts of data, much of it remains siloed or unused, limiting its potential value. Decision-makers often rely on historical reports rather than real-time insights, making it difficult to respond proactively to changing conditions. Scalability is another major concern, as traditional systems struggle to handle increasing workloads without proportional increases in cost or effort. These challenges create an opportunity for AI-driven solutions that can automate workflows, analyze data intelligently, and provide actionable insights at scale. By clearly defining this problem statement, the hackathon sets a focused direction for participants, ensuring that solutions are relevant, impactful, and aligned with real business needs rather than abstract experimentation.</a:t>
            </a:r>
          </a:p>
        </p:txBody>
      </p:sp>
      <p:sp>
        <p:nvSpPr>
          <p:cNvPr id="4" name="Slide Number Placeholder 3"/>
          <p:cNvSpPr>
            <a:spLocks noGrp="1"/>
          </p:cNvSpPr>
          <p:nvPr>
            <p:ph type="sldNum" sz="quarter" idx="5"/>
          </p:nvPr>
        </p:nvSpPr>
        <p:spPr/>
        <p:txBody>
          <a:bodyPr/>
          <a:lstStyle/>
          <a:p>
            <a:fld id="{BA673118-8661-43EC-ADCD-0BEBE9E72107}" type="slidenum">
              <a:t>6</a:t>
            </a:fld>
            <a:endParaRPr lang="en-US"/>
          </a:p>
        </p:txBody>
      </p:sp>
    </p:spTree>
    <p:extLst>
      <p:ext uri="{BB962C8B-B14F-4D97-AF65-F5344CB8AC3E}">
        <p14:creationId xmlns:p14="http://schemas.microsoft.com/office/powerpoint/2010/main" val="2431767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presents a powerful opportunity to transform how organizations operate, make decisions, and deliver value. By applying machine learning models, natural language processing, and predictive analytics, routine tasks can be automated, and complex patterns in data can be uncovered with speed and accuracy. AI systems can learn from historical data to predict outcomes, recommend actions, and continuously improve over time. This creates opportunities to reduce operational costs, improve accuracy, and enhance user experiences. For example, intelligent automation can replace repetitive manual work, freeing employees to focus on higher-value activities. Real-time analytics can support faster and more informed decision-making, while generative AI can assist in content creation, summarization, and knowledge retrieval. The hackathon environment allows teams to explore these opportunities in a practical way, building proof-of-concept solutions that demonstrate tangible benefits. This focus on opportunity ensures that AI is positioned not as a buzzword, but as a strategic enabler of sustainable and scalable transformation.</a:t>
            </a:r>
          </a:p>
        </p:txBody>
      </p:sp>
      <p:sp>
        <p:nvSpPr>
          <p:cNvPr id="4" name="Slide Number Placeholder 3"/>
          <p:cNvSpPr>
            <a:spLocks noGrp="1"/>
          </p:cNvSpPr>
          <p:nvPr>
            <p:ph type="sldNum" sz="quarter" idx="5"/>
          </p:nvPr>
        </p:nvSpPr>
        <p:spPr/>
        <p:txBody>
          <a:bodyPr/>
          <a:lstStyle/>
          <a:p>
            <a:fld id="{BA673118-8661-43EC-ADCD-0BEBE9E72107}" type="slidenum">
              <a:t>7</a:t>
            </a:fld>
            <a:endParaRPr lang="en-US"/>
          </a:p>
        </p:txBody>
      </p:sp>
    </p:spTree>
    <p:extLst>
      <p:ext uri="{BB962C8B-B14F-4D97-AF65-F5344CB8AC3E}">
        <p14:creationId xmlns:p14="http://schemas.microsoft.com/office/powerpoint/2010/main" val="557881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Proposed AI Solution Overview, Technology Stack and Tools</a:t>
            </a:r>
          </a:p>
        </p:txBody>
      </p:sp>
      <p:sp>
        <p:nvSpPr>
          <p:cNvPr id="4" name="Slide Number Placeholder 3"/>
          <p:cNvSpPr>
            <a:spLocks noGrp="1"/>
          </p:cNvSpPr>
          <p:nvPr>
            <p:ph type="sldNum" sz="quarter" idx="5"/>
          </p:nvPr>
        </p:nvSpPr>
        <p:spPr/>
        <p:txBody>
          <a:bodyPr/>
          <a:lstStyle/>
          <a:p>
            <a:fld id="{BA673118-8661-43EC-ADCD-0BEBE9E72107}" type="slidenum">
              <a:t>8</a:t>
            </a:fld>
            <a:endParaRPr lang="en-US"/>
          </a:p>
        </p:txBody>
      </p:sp>
    </p:spTree>
    <p:extLst>
      <p:ext uri="{BB962C8B-B14F-4D97-AF65-F5344CB8AC3E}">
        <p14:creationId xmlns:p14="http://schemas.microsoft.com/office/powerpoint/2010/main" val="2135492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AI solution is designed as an intelligent, modular system that addresses the identified problem through automation, prediction, and insight generation. At its core, the solution leverages machine learning models to analyze incoming data, identify patterns, and generate recommendations or automated actions. The system is built to handle data ingestion, preprocessing, model inference, and output delivery in a seamless flow. By integrating AI-driven decision logic into existing workflows, the solution reduces manual intervention while improving speed and accuracy. A key design principle is scalability, ensuring that the solution can grow with increasing data volumes and user demands. The solution also emphasizes usability, presenting insights through intuitive dashboards or interfaces that enable users to understand and act on AI outputs effectively. This end-to-end approach demonstrates how AI can be embedded into real business processes to deliver measurable value rather than operating as an isolated technical component.</a:t>
            </a:r>
          </a:p>
        </p:txBody>
      </p:sp>
      <p:sp>
        <p:nvSpPr>
          <p:cNvPr id="4" name="Slide Number Placeholder 3"/>
          <p:cNvSpPr>
            <a:spLocks noGrp="1"/>
          </p:cNvSpPr>
          <p:nvPr>
            <p:ph type="sldNum" sz="quarter" idx="5"/>
          </p:nvPr>
        </p:nvSpPr>
        <p:spPr/>
        <p:txBody>
          <a:bodyPr/>
          <a:lstStyle/>
          <a:p>
            <a:fld id="{BA673118-8661-43EC-ADCD-0BEBE9E72107}" type="slidenum">
              <a:t>9</a:t>
            </a:fld>
            <a:endParaRPr lang="en-US"/>
          </a:p>
        </p:txBody>
      </p:sp>
    </p:spTree>
    <p:extLst>
      <p:ext uri="{BB962C8B-B14F-4D97-AF65-F5344CB8AC3E}">
        <p14:creationId xmlns:p14="http://schemas.microsoft.com/office/powerpoint/2010/main" val="2110867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technology stack for this AI hackathon solution is built using modern, cloud-native, and open-source tools to ensure flexibility and performance. Python serves as the primary programming language due to its strong ecosystem for data science and machine learning. Cloud platforms such as Azure or AWS are used to host services, manage compute resources, and enable scalability. Machine learning frameworks and generative AI models power prediction, classification, and intelligent automation capabilities. APIs are used to integrate different system components and enable seamless data exchange. Automation tools and cloud services support workflow orchestration, monitoring, and deployment. This carefully selected technology stack allows rapid development during the hackathon while also being robust enough for future enhancement and enterprise adoption.</a:t>
            </a:r>
          </a:p>
        </p:txBody>
      </p:sp>
      <p:sp>
        <p:nvSpPr>
          <p:cNvPr id="4" name="Slide Number Placeholder 3"/>
          <p:cNvSpPr>
            <a:spLocks noGrp="1"/>
          </p:cNvSpPr>
          <p:nvPr>
            <p:ph type="sldNum" sz="quarter" idx="5"/>
          </p:nvPr>
        </p:nvSpPr>
        <p:spPr/>
        <p:txBody>
          <a:bodyPr/>
          <a:lstStyle/>
          <a:p>
            <a:fld id="{BA673118-8661-43EC-ADCD-0BEBE9E72107}" type="slidenum">
              <a:t>10</a:t>
            </a:fld>
            <a:endParaRPr lang="en-US"/>
          </a:p>
        </p:txBody>
      </p:sp>
    </p:spTree>
    <p:extLst>
      <p:ext uri="{BB962C8B-B14F-4D97-AF65-F5344CB8AC3E}">
        <p14:creationId xmlns:p14="http://schemas.microsoft.com/office/powerpoint/2010/main" val="1421434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High-Level Architecture Design, Business Impact and Value Creation</a:t>
            </a:r>
          </a:p>
        </p:txBody>
      </p:sp>
      <p:sp>
        <p:nvSpPr>
          <p:cNvPr id="4" name="Slide Number Placeholder 3"/>
          <p:cNvSpPr>
            <a:spLocks noGrp="1"/>
          </p:cNvSpPr>
          <p:nvPr>
            <p:ph type="sldNum" sz="quarter" idx="5"/>
          </p:nvPr>
        </p:nvSpPr>
        <p:spPr/>
        <p:txBody>
          <a:bodyPr/>
          <a:lstStyle/>
          <a:p>
            <a:fld id="{BA673118-8661-43EC-ADCD-0BEBE9E72107}" type="slidenum">
              <a:t>11</a:t>
            </a:fld>
            <a:endParaRPr lang="en-US"/>
          </a:p>
        </p:txBody>
      </p:sp>
    </p:spTree>
    <p:extLst>
      <p:ext uri="{BB962C8B-B14F-4D97-AF65-F5344CB8AC3E}">
        <p14:creationId xmlns:p14="http://schemas.microsoft.com/office/powerpoint/2010/main" val="4051514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of the AI solution is designed with a layered and modular approach to ensure clarity, scalability, and maintainability. The data layer handles ingestion from multiple sources and performs preprocessing to ensure quality and consistency. The AI layer is responsible for model training, inference, and continuous learning, enabling the system to improve over time. The business logic layer integrates AI outputs into workflows, rules, and decision engines. Finally, the presentation layer provides dashboards, visualizations, or user interfaces for interaction and insight consumption. This separation of concerns allows teams to update or enhance individual components without disrupting the entire system. The architecture demonstrates best practices in modern AI system design, balancing performance, flexibility, and reliability.</a:t>
            </a:r>
          </a:p>
        </p:txBody>
      </p:sp>
      <p:sp>
        <p:nvSpPr>
          <p:cNvPr id="4" name="Slide Number Placeholder 3"/>
          <p:cNvSpPr>
            <a:spLocks noGrp="1"/>
          </p:cNvSpPr>
          <p:nvPr>
            <p:ph type="sldNum" sz="quarter" idx="5"/>
          </p:nvPr>
        </p:nvSpPr>
        <p:spPr/>
        <p:txBody>
          <a:bodyPr/>
          <a:lstStyle/>
          <a:p>
            <a:fld id="{BA673118-8661-43EC-ADCD-0BEBE9E72107}" type="slidenum">
              <a:t>12</a:t>
            </a:fld>
            <a:endParaRPr lang="en-US"/>
          </a:p>
        </p:txBody>
      </p:sp>
    </p:spTree>
    <p:extLst>
      <p:ext uri="{BB962C8B-B14F-4D97-AF65-F5344CB8AC3E}">
        <p14:creationId xmlns:p14="http://schemas.microsoft.com/office/powerpoint/2010/main" val="3033987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AI solution delivers significant business impact by addressing efficiency, accuracy, and scalability challenges. Automation reduces turnaround time for key processes, enabling faster service delivery and response. AI-driven insights improve decision quality by providing data-backed recommendations rather than intuition-based judgments. Scalability ensures that the solution can handle growing workloads without proportional increases in cost. Additionally, productivity gains allow employees to focus on strategic and creative tasks instead of repetitive work. These benefits collectively contribute to cost optimization, improved customer or user satisfaction, and stronger competitive advantage. The hackathon solution clearly demonstrates how AI can translate technical innovation into tangible business value.</a:t>
            </a:r>
          </a:p>
        </p:txBody>
      </p:sp>
      <p:sp>
        <p:nvSpPr>
          <p:cNvPr id="4" name="Slide Number Placeholder 3"/>
          <p:cNvSpPr>
            <a:spLocks noGrp="1"/>
          </p:cNvSpPr>
          <p:nvPr>
            <p:ph type="sldNum" sz="quarter" idx="5"/>
          </p:nvPr>
        </p:nvSpPr>
        <p:spPr/>
        <p:txBody>
          <a:bodyPr/>
          <a:lstStyle/>
          <a:p>
            <a:fld id="{BA673118-8661-43EC-ADCD-0BEBE9E72107}" type="slidenum">
              <a:t>13</a:t>
            </a:fld>
            <a:endParaRPr lang="en-US"/>
          </a:p>
        </p:txBody>
      </p:sp>
    </p:spTree>
    <p:extLst>
      <p:ext uri="{BB962C8B-B14F-4D97-AF65-F5344CB8AC3E}">
        <p14:creationId xmlns:p14="http://schemas.microsoft.com/office/powerpoint/2010/main" val="1397925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 Highlights and Key Features, Future Roadmap and Conclusion</a:t>
            </a:r>
          </a:p>
        </p:txBody>
      </p:sp>
      <p:sp>
        <p:nvSpPr>
          <p:cNvPr id="4" name="Slide Number Placeholder 3"/>
          <p:cNvSpPr>
            <a:spLocks noGrp="1"/>
          </p:cNvSpPr>
          <p:nvPr>
            <p:ph type="sldNum" sz="quarter" idx="5"/>
          </p:nvPr>
        </p:nvSpPr>
        <p:spPr/>
        <p:txBody>
          <a:bodyPr/>
          <a:lstStyle/>
          <a:p>
            <a:fld id="{BA673118-8661-43EC-ADCD-0BEBE9E72107}" type="slidenum">
              <a:t>14</a:t>
            </a:fld>
            <a:endParaRPr lang="en-US"/>
          </a:p>
        </p:txBody>
      </p:sp>
    </p:spTree>
    <p:extLst>
      <p:ext uri="{BB962C8B-B14F-4D97-AF65-F5344CB8AC3E}">
        <p14:creationId xmlns:p14="http://schemas.microsoft.com/office/powerpoint/2010/main" val="4079083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roadmap focuses on enhancing the solution with advanced AI models, broader data integration, and enterprise-wide deployment. Planned improvements include continuous learning, improved accuracy, and expanded automation capabilities. With proper governance and scaling, the solution can evolve into a production-ready platform. In conclusion, this AI hackathon presentation demonstrates how focused innovation, modern technology, and collaborative effort can produce impactful AI solutions. It reinforces the idea that AI is not just the future, but a powerful tool that can be applied today to drive meaningful change.</a:t>
            </a:r>
          </a:p>
        </p:txBody>
      </p:sp>
      <p:sp>
        <p:nvSpPr>
          <p:cNvPr id="4" name="Slide Number Placeholder 3"/>
          <p:cNvSpPr>
            <a:spLocks noGrp="1"/>
          </p:cNvSpPr>
          <p:nvPr>
            <p:ph type="sldNum" sz="quarter" idx="5"/>
          </p:nvPr>
        </p:nvSpPr>
        <p:spPr/>
        <p:txBody>
          <a:bodyPr/>
          <a:lstStyle/>
          <a:p>
            <a:fld id="{BA673118-8661-43EC-ADCD-0BEBE9E72107}" type="slidenum">
              <a:t>15</a:t>
            </a:fld>
            <a:endParaRPr lang="en-US"/>
          </a:p>
        </p:txBody>
      </p:sp>
    </p:spTree>
    <p:extLst>
      <p:ext uri="{BB962C8B-B14F-4D97-AF65-F5344CB8AC3E}">
        <p14:creationId xmlns:p14="http://schemas.microsoft.com/office/powerpoint/2010/main" val="20071287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Thursday, April 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853797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9634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Thursday, April 9,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654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Thursday, April 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178533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Thursday, April 9,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8221418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Thursday, April 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679440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Thursday, April 9,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521399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Thursday, April 9,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95260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Thursday, April 9,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29387547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Thursday, April 9,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03375823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Thursday, April 9,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595134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Thursday, April 9,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99739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3654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15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635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76210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90578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404251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0081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01400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03032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Thursday, April 9,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105619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Thursday, April 9, 2026</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830605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Thursday, April 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64768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Thursday, April 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02673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Thursday, April 9,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555027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Thursday, April 9,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891541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Thursday, April 9,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012911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Thursday, April 9,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88247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44516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958369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54418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Thursday, April 9,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5146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Thursday, April 9,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8410407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Thursday, April 9,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997932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Thursday, April 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35102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Thursday, April 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422979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Thursday, April 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471487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Thursday, April 9,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977308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Thursday, April 9,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243295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Thursday, April 9,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120446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Thursday, April 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06855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Thursday, April 9,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871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Thursday, April 9,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8803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Thursday, April 9,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25110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Thursday, April 9,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11930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Thursday, April 9,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08991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9830739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Thursday, April 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9449463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Thursday, April 9,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07813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AF4C-5F04-79CE-95B6-0EA3C7E153C5}"/>
              </a:ext>
            </a:extLst>
          </p:cNvPr>
          <p:cNvSpPr>
            <a:spLocks noGrp="1"/>
          </p:cNvSpPr>
          <p:nvPr>
            <p:ph type="ctrTitle"/>
          </p:nvPr>
        </p:nvSpPr>
        <p:spPr>
          <a:xfrm>
            <a:off x="731520" y="4791456"/>
            <a:ext cx="10570464" cy="1170432"/>
          </a:xfrm>
        </p:spPr>
        <p:txBody>
          <a:bodyPr anchor="b">
            <a:normAutofit/>
          </a:bodyPr>
          <a:lstStyle/>
          <a:p>
            <a:r>
              <a:rPr lang="en-US" sz="3700" dirty="0"/>
              <a:t>Retail Product Descriptor Generator</a:t>
            </a:r>
          </a:p>
        </p:txBody>
      </p:sp>
      <p:sp>
        <p:nvSpPr>
          <p:cNvPr id="3" name="Subtitle 2">
            <a:extLst>
              <a:ext uri="{FF2B5EF4-FFF2-40B4-BE49-F238E27FC236}">
                <a16:creationId xmlns:a16="http://schemas.microsoft.com/office/drawing/2014/main" id="{3CEC74C9-4477-4EED-4347-8F1950A0FCA8}"/>
              </a:ext>
            </a:extLst>
          </p:cNvPr>
          <p:cNvSpPr>
            <a:spLocks noGrp="1"/>
          </p:cNvSpPr>
          <p:nvPr>
            <p:ph type="subTitle" idx="1"/>
          </p:nvPr>
        </p:nvSpPr>
        <p:spPr>
          <a:xfrm>
            <a:off x="731520" y="6025896"/>
            <a:ext cx="10579608" cy="429768"/>
          </a:xfrm>
        </p:spPr>
        <p:txBody>
          <a:bodyPr>
            <a:normAutofit/>
          </a:bodyPr>
          <a:lstStyle/>
          <a:p>
            <a:pPr>
              <a:lnSpc>
                <a:spcPct val="110000"/>
              </a:lnSpc>
            </a:pPr>
            <a:r>
              <a:rPr lang="en-US" sz="1400" dirty="0"/>
              <a:t>Automating generation of product description</a:t>
            </a:r>
          </a:p>
        </p:txBody>
      </p:sp>
      <p:pic>
        <p:nvPicPr>
          <p:cNvPr id="4" name="Picture 3" descr="Abstract blockchain network background">
            <a:extLst>
              <a:ext uri="{FF2B5EF4-FFF2-40B4-BE49-F238E27FC236}">
                <a16:creationId xmlns:a16="http://schemas.microsoft.com/office/drawing/2014/main" id="{D7B4F936-6B7C-4186-9629-1BA7FF3FDE63}"/>
              </a:ext>
            </a:extLst>
          </p:cNvPr>
          <p:cNvPicPr>
            <a:picLocks noChangeAspect="1"/>
          </p:cNvPicPr>
          <p:nvPr/>
        </p:nvPicPr>
        <p:blipFill>
          <a:blip r:embed="rId3"/>
          <a:srcRect t="21483" b="18034"/>
          <a:stretch>
            <a:fillRect/>
          </a:stretch>
        </p:blipFill>
        <p:spPr>
          <a:xfrm>
            <a:off x="20" y="10"/>
            <a:ext cx="12191980" cy="4571990"/>
          </a:xfrm>
          <a:prstGeom prst="rect">
            <a:avLst/>
          </a:prstGeom>
        </p:spPr>
      </p:pic>
    </p:spTree>
    <p:extLst>
      <p:ext uri="{BB962C8B-B14F-4D97-AF65-F5344CB8AC3E}">
        <p14:creationId xmlns:p14="http://schemas.microsoft.com/office/powerpoint/2010/main" val="142748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Folded Corner 6">
            <a:extLst>
              <a:ext uri="{FF2B5EF4-FFF2-40B4-BE49-F238E27FC236}">
                <a16:creationId xmlns:a16="http://schemas.microsoft.com/office/drawing/2014/main" id="{01F1E278-A52C-3E17-76E0-E171E2F130BD}"/>
              </a:ext>
            </a:extLst>
          </p:cNvPr>
          <p:cNvSpPr/>
          <p:nvPr/>
        </p:nvSpPr>
        <p:spPr>
          <a:xfrm>
            <a:off x="0" y="0"/>
            <a:ext cx="12042648" cy="2487168"/>
          </a:xfrm>
          <a:prstGeom prst="foldedCorner">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ookman Old Style" panose="02050604050505020204" pitchFamily="18" charset="0"/>
                <a:ea typeface="Verdana" panose="020B0604030504040204" pitchFamily="34" charset="0"/>
              </a:rPr>
              <a:t>Automating generation of product description</a:t>
            </a:r>
          </a:p>
        </p:txBody>
      </p:sp>
      <p:sp>
        <p:nvSpPr>
          <p:cNvPr id="8" name="Rectangle 7">
            <a:extLst>
              <a:ext uri="{FF2B5EF4-FFF2-40B4-BE49-F238E27FC236}">
                <a16:creationId xmlns:a16="http://schemas.microsoft.com/office/drawing/2014/main" id="{170D4919-B90F-F94B-FF5D-D2C8634AD001}"/>
              </a:ext>
            </a:extLst>
          </p:cNvPr>
          <p:cNvSpPr/>
          <p:nvPr/>
        </p:nvSpPr>
        <p:spPr>
          <a:xfrm>
            <a:off x="182880" y="2624328"/>
            <a:ext cx="11814048" cy="41056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9F9EF426-2377-321A-466A-39B6326C67FB}"/>
              </a:ext>
            </a:extLst>
          </p:cNvPr>
          <p:cNvSpPr/>
          <p:nvPr/>
        </p:nvSpPr>
        <p:spPr>
          <a:xfrm>
            <a:off x="384048" y="2752344"/>
            <a:ext cx="4334256" cy="896112"/>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latin typeface="Bookman Old Style" panose="02050604050505020204" pitchFamily="18" charset="0"/>
              </a:rPr>
              <a:t>Team</a:t>
            </a:r>
          </a:p>
        </p:txBody>
      </p:sp>
      <p:sp>
        <p:nvSpPr>
          <p:cNvPr id="10" name="Rectangle 9">
            <a:extLst>
              <a:ext uri="{FF2B5EF4-FFF2-40B4-BE49-F238E27FC236}">
                <a16:creationId xmlns:a16="http://schemas.microsoft.com/office/drawing/2014/main" id="{03FBEDA6-FEC9-86ED-0A13-5B1AAD1F5976}"/>
              </a:ext>
            </a:extLst>
          </p:cNvPr>
          <p:cNvSpPr/>
          <p:nvPr/>
        </p:nvSpPr>
        <p:spPr>
          <a:xfrm>
            <a:off x="667512" y="3721608"/>
            <a:ext cx="6391656" cy="286207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285750" indent="-285750">
              <a:lnSpc>
                <a:spcPct val="200000"/>
              </a:lnSpc>
              <a:buFont typeface="Arial" panose="020B0604020202020204" pitchFamily="34" charset="0"/>
              <a:buChar char="•"/>
            </a:pPr>
            <a:r>
              <a:rPr lang="en-US" b="1" dirty="0">
                <a:latin typeface="Bookman Old Style" panose="02050604050505020204" pitchFamily="18" charset="0"/>
              </a:rPr>
              <a:t>Dipanjan Ghosh</a:t>
            </a:r>
          </a:p>
          <a:p>
            <a:pPr marL="285750" indent="-285750">
              <a:lnSpc>
                <a:spcPct val="200000"/>
              </a:lnSpc>
              <a:buFont typeface="Arial" panose="020B0604020202020204" pitchFamily="34" charset="0"/>
              <a:buChar char="•"/>
            </a:pPr>
            <a:r>
              <a:rPr lang="en-US" b="1" dirty="0">
                <a:latin typeface="Bookman Old Style" panose="02050604050505020204" pitchFamily="18" charset="0"/>
              </a:rPr>
              <a:t>Vineet Singh</a:t>
            </a:r>
          </a:p>
          <a:p>
            <a:pPr marL="285750" indent="-285750">
              <a:lnSpc>
                <a:spcPct val="200000"/>
              </a:lnSpc>
              <a:buFont typeface="Arial" panose="020B0604020202020204" pitchFamily="34" charset="0"/>
              <a:buChar char="•"/>
            </a:pPr>
            <a:r>
              <a:rPr lang="en-US" b="1" dirty="0">
                <a:latin typeface="Bookman Old Style" panose="02050604050505020204" pitchFamily="18" charset="0"/>
              </a:rPr>
              <a:t>Sayan Samanta</a:t>
            </a:r>
          </a:p>
          <a:p>
            <a:pPr marL="285750" indent="-285750">
              <a:lnSpc>
                <a:spcPct val="200000"/>
              </a:lnSpc>
              <a:buFont typeface="Arial" panose="020B0604020202020204" pitchFamily="34" charset="0"/>
              <a:buChar char="•"/>
            </a:pPr>
            <a:r>
              <a:rPr lang="en-US" b="1" dirty="0">
                <a:latin typeface="Bookman Old Style" panose="02050604050505020204" pitchFamily="18" charset="0"/>
              </a:rPr>
              <a:t>Urbi Sengupta</a:t>
            </a:r>
          </a:p>
          <a:p>
            <a:pPr marL="285750" indent="-285750">
              <a:lnSpc>
                <a:spcPct val="200000"/>
              </a:lnSpc>
              <a:buFont typeface="Arial" panose="020B0604020202020204" pitchFamily="34" charset="0"/>
              <a:buChar char="•"/>
            </a:pPr>
            <a:r>
              <a:rPr lang="en-US" b="1" dirty="0">
                <a:latin typeface="Bookman Old Style" panose="02050604050505020204" pitchFamily="18" charset="0"/>
              </a:rPr>
              <a:t>Suham Chatterjee</a:t>
            </a:r>
          </a:p>
        </p:txBody>
      </p:sp>
    </p:spTree>
    <p:extLst>
      <p:ext uri="{BB962C8B-B14F-4D97-AF65-F5344CB8AC3E}">
        <p14:creationId xmlns:p14="http://schemas.microsoft.com/office/powerpoint/2010/main" val="371700874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07560-50AA-EF89-05C9-04F7712AE471}"/>
              </a:ext>
            </a:extLst>
          </p:cNvPr>
          <p:cNvSpPr>
            <a:spLocks noGrp="1"/>
          </p:cNvSpPr>
          <p:nvPr>
            <p:ph type="title"/>
          </p:nvPr>
        </p:nvSpPr>
        <p:spPr>
          <a:xfrm>
            <a:off x="731520" y="312572"/>
            <a:ext cx="6858000" cy="923544"/>
          </a:xfrm>
        </p:spPr>
        <p:txBody>
          <a:bodyPr anchor="b">
            <a:normAutofit/>
          </a:bodyPr>
          <a:lstStyle/>
          <a:p>
            <a:r>
              <a:rPr lang="en-US" dirty="0"/>
              <a:t>Problem Statement</a:t>
            </a:r>
          </a:p>
        </p:txBody>
      </p:sp>
      <p:sp>
        <p:nvSpPr>
          <p:cNvPr id="4" name="Content Placeholder 3">
            <a:extLst>
              <a:ext uri="{FF2B5EF4-FFF2-40B4-BE49-F238E27FC236}">
                <a16:creationId xmlns:a16="http://schemas.microsoft.com/office/drawing/2014/main" id="{10318F42-E296-942F-C890-8F3AAA8314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dirty="0"/>
              <a:t>Purposeful Innovation</a:t>
            </a:r>
          </a:p>
          <a:p>
            <a:pPr marL="0" lvl="1" indent="0">
              <a:buFont typeface="Arial" panose="020B0604020202020204" pitchFamily="34" charset="0"/>
              <a:buNone/>
            </a:pPr>
            <a:r>
              <a:rPr lang="en-US" dirty="0"/>
              <a:t>Retailers Struggle to create engaging and consistent </a:t>
            </a:r>
          </a:p>
          <a:p>
            <a:pPr marL="0" indent="0">
              <a:spcBef>
                <a:spcPts val="2500"/>
              </a:spcBef>
              <a:buFont typeface="Arial" panose="020B0604020202020204" pitchFamily="34" charset="0"/>
              <a:buNone/>
            </a:pPr>
            <a:r>
              <a:rPr lang="en-US" b="1" dirty="0"/>
              <a:t>Automating Processes</a:t>
            </a:r>
          </a:p>
          <a:p>
            <a:pPr marL="0" lvl="1" indent="0">
              <a:buFont typeface="Arial" panose="020B0604020202020204" pitchFamily="34" charset="0"/>
              <a:buNone/>
            </a:pPr>
            <a:r>
              <a:rPr dirty="0"/>
              <a:t>Participants use AI to automate repetitive tasks, enhancing efficiency and decision-making in business environments.</a:t>
            </a:r>
            <a:endParaRPr lang="en-US" dirty="0"/>
          </a:p>
          <a:p>
            <a:pPr marL="0" indent="0">
              <a:spcBef>
                <a:spcPts val="2500"/>
              </a:spcBef>
              <a:buFont typeface="Arial" panose="020B0604020202020204" pitchFamily="34" charset="0"/>
              <a:buNone/>
            </a:pPr>
            <a:r>
              <a:rPr lang="en-US" b="1" dirty="0"/>
              <a:t>Accelerating Outcomes</a:t>
            </a:r>
          </a:p>
          <a:p>
            <a:pPr marL="0" lvl="1" indent="0">
              <a:buFont typeface="Arial" panose="020B0604020202020204" pitchFamily="34" charset="0"/>
              <a:buNone/>
            </a:pPr>
            <a:r>
              <a:rPr dirty="0"/>
              <a:t>The hackathon accelerates productivity and insight generation by fostering rapid prototyping and collaboration using modern AI tools.</a:t>
            </a:r>
            <a:endParaRPr lang="en-US" dirty="0"/>
          </a:p>
          <a:p>
            <a:pPr marL="0" indent="0">
              <a:spcBef>
                <a:spcPts val="2500"/>
              </a:spcBef>
              <a:buFont typeface="Arial" panose="020B0604020202020204" pitchFamily="34" charset="0"/>
              <a:buNone/>
            </a:pPr>
            <a:r>
              <a:rPr lang="en-US" b="1" dirty="0"/>
              <a:t>Learning and Growth</a:t>
            </a:r>
          </a:p>
          <a:p>
            <a:pPr marL="0" lvl="1" indent="0">
              <a:buFont typeface="Arial" panose="020B0604020202020204" pitchFamily="34" charset="0"/>
              <a:buNone/>
            </a:pPr>
            <a:r>
              <a:rPr dirty="0"/>
              <a:t>Participants gain hands-on experience with cutting-edge AI technologies, cloud platforms, and collaborative teamwork.</a:t>
            </a:r>
            <a:endParaRPr lang="en-US" dirty="0"/>
          </a:p>
        </p:txBody>
      </p:sp>
      <p:pic>
        <p:nvPicPr>
          <p:cNvPr id="5" name="Content Placeholder 4" descr="Shot of a group of young businesspeople sitting around a table and using their digital devices at work">
            <a:extLst>
              <a:ext uri="{FF2B5EF4-FFF2-40B4-BE49-F238E27FC236}">
                <a16:creationId xmlns:a16="http://schemas.microsoft.com/office/drawing/2014/main" id="{C6E9B55E-6D3A-44C3-AC15-1B84CEADD16A}"/>
              </a:ext>
            </a:extLst>
          </p:cNvPr>
          <p:cNvPicPr>
            <a:picLocks noGrp="1" noChangeAspect="1"/>
          </p:cNvPicPr>
          <p:nvPr>
            <p:ph type="pic" sz="quarter" idx="15"/>
          </p:nvPr>
        </p:nvPicPr>
        <p:blipFill>
          <a:blip r:embed="rId3"/>
          <a:srcRect l="44709" r="15711" b="2"/>
          <a:stretch>
            <a:fillRect/>
          </a:stretch>
        </p:blipFill>
        <p:spPr>
          <a:xfrm>
            <a:off x="8491126" y="603504"/>
            <a:ext cx="3085177" cy="5202936"/>
          </a:xfrm>
        </p:spPr>
      </p:pic>
    </p:spTree>
    <p:extLst>
      <p:ext uri="{BB962C8B-B14F-4D97-AF65-F5344CB8AC3E}">
        <p14:creationId xmlns:p14="http://schemas.microsoft.com/office/powerpoint/2010/main" val="41974504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19997-1F72-CFD0-14C2-4AC63BAB111D}"/>
              </a:ext>
            </a:extLst>
          </p:cNvPr>
          <p:cNvSpPr>
            <a:spLocks noGrp="1"/>
          </p:cNvSpPr>
          <p:nvPr>
            <p:ph type="title"/>
          </p:nvPr>
        </p:nvSpPr>
        <p:spPr>
          <a:xfrm>
            <a:off x="731520" y="312572"/>
            <a:ext cx="6858000" cy="923544"/>
          </a:xfrm>
        </p:spPr>
        <p:txBody>
          <a:bodyPr anchor="b">
            <a:normAutofit/>
          </a:bodyPr>
          <a:lstStyle/>
          <a:p>
            <a:r>
              <a:rPr lang="en-US" dirty="0"/>
              <a:t>Technology approach</a:t>
            </a:r>
          </a:p>
        </p:txBody>
      </p:sp>
      <p:sp>
        <p:nvSpPr>
          <p:cNvPr id="4" name="Content Placeholder 3">
            <a:extLst>
              <a:ext uri="{FF2B5EF4-FFF2-40B4-BE49-F238E27FC236}">
                <a16:creationId xmlns:a16="http://schemas.microsoft.com/office/drawing/2014/main" id="{BDA50A07-58CC-0EE1-88B5-65826648383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dirty="0"/>
              <a:t>Frontend – HTML &amp; CSS for review status and report display</a:t>
            </a:r>
          </a:p>
          <a:p>
            <a:pPr marL="0" indent="0">
              <a:spcBef>
                <a:spcPts val="2500"/>
              </a:spcBef>
              <a:buFont typeface="Arial" panose="020B0604020202020204" pitchFamily="34" charset="0"/>
              <a:buNone/>
            </a:pPr>
            <a:r>
              <a:rPr lang="en-US" dirty="0"/>
              <a:t>AI Layer – </a:t>
            </a:r>
            <a:r>
              <a:rPr lang="en-US" dirty="0" err="1"/>
              <a:t>Dipseek</a:t>
            </a:r>
            <a:r>
              <a:rPr lang="en-US" dirty="0"/>
              <a:t> to perform language understanding and summarization </a:t>
            </a:r>
          </a:p>
          <a:p>
            <a:pPr marL="0" indent="0">
              <a:spcBef>
                <a:spcPts val="2500"/>
              </a:spcBef>
              <a:buFont typeface="Arial" panose="020B0604020202020204" pitchFamily="34" charset="0"/>
              <a:buNone/>
            </a:pPr>
            <a:r>
              <a:rPr lang="en-US" dirty="0"/>
              <a:t>Backend – Json</a:t>
            </a:r>
          </a:p>
          <a:p>
            <a:pPr marL="0" indent="0">
              <a:spcBef>
                <a:spcPts val="2500"/>
              </a:spcBef>
              <a:buFont typeface="Arial" panose="020B0604020202020204" pitchFamily="34" charset="0"/>
              <a:buNone/>
            </a:pPr>
            <a:r>
              <a:rPr lang="en-US" dirty="0"/>
              <a:t>Model Used - </a:t>
            </a:r>
          </a:p>
        </p:txBody>
      </p:sp>
      <p:pic>
        <p:nvPicPr>
          <p:cNvPr id="5" name="Content Placeholder 4" descr="People solving problems">
            <a:extLst>
              <a:ext uri="{FF2B5EF4-FFF2-40B4-BE49-F238E27FC236}">
                <a16:creationId xmlns:a16="http://schemas.microsoft.com/office/drawing/2014/main" id="{8EA6DDAD-A154-4641-B174-C00D5B22BE7A}"/>
              </a:ext>
            </a:extLst>
          </p:cNvPr>
          <p:cNvPicPr>
            <a:picLocks noGrp="1" noChangeAspect="1"/>
          </p:cNvPicPr>
          <p:nvPr>
            <p:ph type="pic" sz="quarter" idx="15"/>
          </p:nvPr>
        </p:nvPicPr>
        <p:blipFill>
          <a:blip r:embed="rId3"/>
          <a:srcRect l="30519" r="29901" b="2"/>
          <a:stretch>
            <a:fillRect/>
          </a:stretch>
        </p:blipFill>
        <p:spPr>
          <a:xfrm>
            <a:off x="8491126" y="603504"/>
            <a:ext cx="3085177" cy="5202936"/>
          </a:xfrm>
        </p:spPr>
      </p:pic>
    </p:spTree>
    <p:extLst>
      <p:ext uri="{BB962C8B-B14F-4D97-AF65-F5344CB8AC3E}">
        <p14:creationId xmlns:p14="http://schemas.microsoft.com/office/powerpoint/2010/main" val="3674464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Folded Corner 4">
            <a:extLst>
              <a:ext uri="{FF2B5EF4-FFF2-40B4-BE49-F238E27FC236}">
                <a16:creationId xmlns:a16="http://schemas.microsoft.com/office/drawing/2014/main" id="{4C0FBD67-907C-2BBA-41DC-E05746665643}"/>
              </a:ext>
            </a:extLst>
          </p:cNvPr>
          <p:cNvSpPr/>
          <p:nvPr/>
        </p:nvSpPr>
        <p:spPr>
          <a:xfrm>
            <a:off x="182880" y="2322576"/>
            <a:ext cx="7306056" cy="4471416"/>
          </a:xfrm>
          <a:prstGeom prst="foldedCorner">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ookman Old Style" panose="02050604050505020204" pitchFamily="18" charset="0"/>
                <a:ea typeface="Verdana" panose="020B0604030504040204" pitchFamily="34" charset="0"/>
              </a:rPr>
              <a:t>Proposed Solution</a:t>
            </a:r>
          </a:p>
        </p:txBody>
      </p:sp>
    </p:spTree>
    <p:extLst>
      <p:ext uri="{BB962C8B-B14F-4D97-AF65-F5344CB8AC3E}">
        <p14:creationId xmlns:p14="http://schemas.microsoft.com/office/powerpoint/2010/main" val="386359233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D8DC6AA0-F894-C6EE-2695-4EA2DCC4615D}"/>
              </a:ext>
            </a:extLst>
          </p:cNvPr>
          <p:cNvSpPr/>
          <p:nvPr/>
        </p:nvSpPr>
        <p:spPr>
          <a:xfrm>
            <a:off x="172773" y="1705114"/>
            <a:ext cx="2579571" cy="2034781"/>
          </a:xfrm>
          <a:prstGeom prst="homePlat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AutoNum type="arabicPeriod"/>
            </a:pPr>
            <a:r>
              <a:rPr lang="en-US" b="1" dirty="0"/>
              <a:t>Input</a:t>
            </a:r>
          </a:p>
          <a:p>
            <a:pPr algn="ctr"/>
            <a:r>
              <a:rPr lang="en-US" dirty="0"/>
              <a:t>Add product details (Single / Batch)</a:t>
            </a:r>
          </a:p>
        </p:txBody>
      </p:sp>
      <p:sp>
        <p:nvSpPr>
          <p:cNvPr id="10" name="Arrow: Pentagon 9">
            <a:extLst>
              <a:ext uri="{FF2B5EF4-FFF2-40B4-BE49-F238E27FC236}">
                <a16:creationId xmlns:a16="http://schemas.microsoft.com/office/drawing/2014/main" id="{F6E394B2-3D10-DD0F-A164-957CBF136B8B}"/>
              </a:ext>
            </a:extLst>
          </p:cNvPr>
          <p:cNvSpPr/>
          <p:nvPr/>
        </p:nvSpPr>
        <p:spPr>
          <a:xfrm>
            <a:off x="3081848" y="1730942"/>
            <a:ext cx="2579571" cy="2034781"/>
          </a:xfrm>
          <a:prstGeom prst="homePlat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AutoNum type="arabicPeriod"/>
            </a:pPr>
            <a:r>
              <a:rPr lang="en-US" b="1" dirty="0"/>
              <a:t>Input</a:t>
            </a:r>
          </a:p>
          <a:p>
            <a:pPr algn="ctr"/>
            <a:r>
              <a:rPr lang="en-US" dirty="0"/>
              <a:t>Add product details (Single / Batch)</a:t>
            </a:r>
          </a:p>
        </p:txBody>
      </p:sp>
      <p:sp>
        <p:nvSpPr>
          <p:cNvPr id="11" name="Arrow: Pentagon 10">
            <a:extLst>
              <a:ext uri="{FF2B5EF4-FFF2-40B4-BE49-F238E27FC236}">
                <a16:creationId xmlns:a16="http://schemas.microsoft.com/office/drawing/2014/main" id="{3549B8B5-DE8A-FA1D-0098-2F24FFC7F81D}"/>
              </a:ext>
            </a:extLst>
          </p:cNvPr>
          <p:cNvSpPr/>
          <p:nvPr/>
        </p:nvSpPr>
        <p:spPr>
          <a:xfrm>
            <a:off x="5968304" y="1782758"/>
            <a:ext cx="2579571" cy="2034781"/>
          </a:xfrm>
          <a:prstGeom prst="homePlat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AutoNum type="arabicPeriod"/>
            </a:pPr>
            <a:r>
              <a:rPr lang="en-US" b="1" dirty="0"/>
              <a:t>Input</a:t>
            </a:r>
          </a:p>
          <a:p>
            <a:pPr algn="ctr"/>
            <a:r>
              <a:rPr lang="en-US" dirty="0"/>
              <a:t>Add product details (Single / Batch)</a:t>
            </a:r>
          </a:p>
        </p:txBody>
      </p:sp>
      <p:sp>
        <p:nvSpPr>
          <p:cNvPr id="12" name="Arrow: Pentagon 11">
            <a:extLst>
              <a:ext uri="{FF2B5EF4-FFF2-40B4-BE49-F238E27FC236}">
                <a16:creationId xmlns:a16="http://schemas.microsoft.com/office/drawing/2014/main" id="{3D82680E-06E8-183B-64E1-2EFFE63AF23A}"/>
              </a:ext>
            </a:extLst>
          </p:cNvPr>
          <p:cNvSpPr/>
          <p:nvPr/>
        </p:nvSpPr>
        <p:spPr>
          <a:xfrm>
            <a:off x="8955344" y="1724846"/>
            <a:ext cx="2579571" cy="2034781"/>
          </a:xfrm>
          <a:prstGeom prst="homePlat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AutoNum type="arabicPeriod"/>
            </a:pPr>
            <a:r>
              <a:rPr lang="en-US" b="1" dirty="0"/>
              <a:t>Input</a:t>
            </a:r>
          </a:p>
          <a:p>
            <a:pPr algn="ctr"/>
            <a:r>
              <a:rPr lang="en-US" dirty="0"/>
              <a:t>Add product details (Single / Batch)</a:t>
            </a:r>
          </a:p>
        </p:txBody>
      </p:sp>
    </p:spTree>
    <p:extLst>
      <p:ext uri="{BB962C8B-B14F-4D97-AF65-F5344CB8AC3E}">
        <p14:creationId xmlns:p14="http://schemas.microsoft.com/office/powerpoint/2010/main" val="59354220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C655-35B7-F80B-F15C-C95A040E64DC}"/>
              </a:ext>
            </a:extLst>
          </p:cNvPr>
          <p:cNvSpPr>
            <a:spLocks noGrp="1"/>
          </p:cNvSpPr>
          <p:nvPr>
            <p:ph type="title"/>
          </p:nvPr>
        </p:nvSpPr>
        <p:spPr>
          <a:xfrm>
            <a:off x="731520" y="312572"/>
            <a:ext cx="6858000" cy="923544"/>
          </a:xfrm>
        </p:spPr>
        <p:txBody>
          <a:bodyPr anchor="b">
            <a:normAutofit/>
          </a:bodyPr>
          <a:lstStyle/>
          <a:p>
            <a:r>
              <a:rPr lang="en-US"/>
              <a:t>Opportunity for AI-Driven Transformation</a:t>
            </a:r>
          </a:p>
        </p:txBody>
      </p:sp>
      <p:sp>
        <p:nvSpPr>
          <p:cNvPr id="4" name="Content Placeholder 3">
            <a:extLst>
              <a:ext uri="{FF2B5EF4-FFF2-40B4-BE49-F238E27FC236}">
                <a16:creationId xmlns:a16="http://schemas.microsoft.com/office/drawing/2014/main" id="{6D063E03-89FB-AF40-AD8D-3A1D8F2FA8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Automation of Routine Tasks</a:t>
            </a:r>
          </a:p>
          <a:p>
            <a:pPr marL="0" lvl="1" indent="0">
              <a:buFont typeface="Arial" panose="020B0604020202020204" pitchFamily="34" charset="0"/>
              <a:buNone/>
            </a:pPr>
            <a:r>
              <a:t>AI automates repetitive manual work, freeing employees to focus on higher-value activities and increasing efficiency.</a:t>
            </a:r>
            <a:endParaRPr lang="en-US"/>
          </a:p>
          <a:p>
            <a:pPr marL="0" indent="0">
              <a:spcBef>
                <a:spcPts val="2500"/>
              </a:spcBef>
              <a:buFont typeface="Arial" panose="020B0604020202020204" pitchFamily="34" charset="0"/>
              <a:buNone/>
            </a:pPr>
            <a:r>
              <a:rPr lang="en-US" b="1"/>
              <a:t>Data-Driven Decision Making</a:t>
            </a:r>
          </a:p>
          <a:p>
            <a:pPr marL="0" lvl="1" indent="0">
              <a:buFont typeface="Arial" panose="020B0604020202020204" pitchFamily="34" charset="0"/>
              <a:buNone/>
            </a:pPr>
            <a:r>
              <a:t>Real-time analytics and machine learning enable faster, more accurate, and informed organizational decisions.</a:t>
            </a:r>
            <a:endParaRPr lang="en-US"/>
          </a:p>
          <a:p>
            <a:pPr marL="0" indent="0">
              <a:spcBef>
                <a:spcPts val="2500"/>
              </a:spcBef>
              <a:buFont typeface="Arial" panose="020B0604020202020204" pitchFamily="34" charset="0"/>
              <a:buNone/>
            </a:pPr>
            <a:r>
              <a:rPr lang="en-US" b="1"/>
              <a:t>Generative AI Assistance</a:t>
            </a:r>
          </a:p>
          <a:p>
            <a:pPr marL="0" lvl="1" indent="0">
              <a:buFont typeface="Arial" panose="020B0604020202020204" pitchFamily="34" charset="0"/>
              <a:buNone/>
            </a:pPr>
            <a:r>
              <a:t>Generative AI supports content creation, summarization, and knowledge retrieval, enhancing user experience.</a:t>
            </a:r>
            <a:endParaRPr lang="en-US"/>
          </a:p>
          <a:p>
            <a:pPr marL="0" indent="0">
              <a:spcBef>
                <a:spcPts val="2500"/>
              </a:spcBef>
              <a:buFont typeface="Arial" panose="020B0604020202020204" pitchFamily="34" charset="0"/>
              <a:buNone/>
            </a:pPr>
            <a:r>
              <a:rPr lang="en-US" b="1"/>
              <a:t>Practical AI Exploration</a:t>
            </a:r>
          </a:p>
          <a:p>
            <a:pPr marL="0" lvl="1" indent="0">
              <a:buFont typeface="Arial" panose="020B0604020202020204" pitchFamily="34" charset="0"/>
              <a:buNone/>
            </a:pPr>
            <a:r>
              <a:t>Hackathons provide an environment to build proof-of-concept AI solutions that demonstrate tangible benefits.</a:t>
            </a:r>
            <a:endParaRPr lang="en-US"/>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0D852C78-1081-4E10-83B8-C0D0BD0274F1}"/>
              </a:ext>
            </a:extLst>
          </p:cNvPr>
          <p:cNvPicPr>
            <a:picLocks noGrp="1" noChangeAspect="1"/>
          </p:cNvPicPr>
          <p:nvPr>
            <p:ph type="pic" sz="quarter" idx="15"/>
          </p:nvPr>
        </p:nvPicPr>
        <p:blipFill>
          <a:blip r:embed="rId3"/>
          <a:srcRect l="27292" r="28235" b="-1"/>
          <a:stretch>
            <a:fillRect/>
          </a:stretch>
        </p:blipFill>
        <p:spPr>
          <a:xfrm>
            <a:off x="8491126" y="603504"/>
            <a:ext cx="3085177" cy="5202936"/>
          </a:xfrm>
        </p:spPr>
      </p:pic>
    </p:spTree>
    <p:extLst>
      <p:ext uri="{BB962C8B-B14F-4D97-AF65-F5344CB8AC3E}">
        <p14:creationId xmlns:p14="http://schemas.microsoft.com/office/powerpoint/2010/main" val="1037324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81E01-CC47-9B24-5B31-DD27507BAFA2}"/>
              </a:ext>
            </a:extLst>
          </p:cNvPr>
          <p:cNvSpPr>
            <a:spLocks noGrp="1"/>
          </p:cNvSpPr>
          <p:nvPr>
            <p:ph type="title"/>
          </p:nvPr>
        </p:nvSpPr>
        <p:spPr>
          <a:xfrm>
            <a:off x="731520" y="2596896"/>
            <a:ext cx="8933688" cy="3566160"/>
          </a:xfrm>
        </p:spPr>
        <p:txBody>
          <a:bodyPr anchor="b">
            <a:normAutofit/>
          </a:bodyPr>
          <a:lstStyle/>
          <a:p>
            <a:r>
              <a:rPr lang="en-US"/>
              <a:t>Solution and Technology</a:t>
            </a:r>
          </a:p>
        </p:txBody>
      </p:sp>
    </p:spTree>
    <p:extLst>
      <p:ext uri="{BB962C8B-B14F-4D97-AF65-F5344CB8AC3E}">
        <p14:creationId xmlns:p14="http://schemas.microsoft.com/office/powerpoint/2010/main" val="3175661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75A5-D6CB-99E5-ACF6-5D2FC42CC373}"/>
              </a:ext>
            </a:extLst>
          </p:cNvPr>
          <p:cNvSpPr>
            <a:spLocks noGrp="1"/>
          </p:cNvSpPr>
          <p:nvPr>
            <p:ph type="title"/>
          </p:nvPr>
        </p:nvSpPr>
        <p:spPr>
          <a:xfrm>
            <a:off x="731520" y="3886200"/>
            <a:ext cx="3649468" cy="2048256"/>
          </a:xfrm>
        </p:spPr>
        <p:txBody>
          <a:bodyPr anchor="t">
            <a:normAutofit/>
          </a:bodyPr>
          <a:lstStyle/>
          <a:p>
            <a:r>
              <a:rPr lang="en-US"/>
              <a:t>Proposed AI Solution Overview</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8911FBBB-9859-4A93-8205-9B2B28440151}"/>
              </a:ext>
            </a:extLst>
          </p:cNvPr>
          <p:cNvPicPr>
            <a:picLocks noGrp="1" noChangeAspect="1"/>
          </p:cNvPicPr>
          <p:nvPr>
            <p:ph type="pic" sz="quarter" idx="15"/>
          </p:nvPr>
        </p:nvPicPr>
        <p:blipFill>
          <a:blip r:embed="rId3"/>
          <a:srcRect l="25598" r="23502" b="-1"/>
          <a:stretch>
            <a:fillRect/>
          </a:stretch>
        </p:blipFill>
        <p:spPr>
          <a:xfrm>
            <a:off x="731518" y="10"/>
            <a:ext cx="3520440" cy="3648446"/>
          </a:xfrm>
        </p:spPr>
      </p:pic>
      <p:sp>
        <p:nvSpPr>
          <p:cNvPr id="4" name="Content Placeholder 3">
            <a:extLst>
              <a:ext uri="{FF2B5EF4-FFF2-40B4-BE49-F238E27FC236}">
                <a16:creationId xmlns:a16="http://schemas.microsoft.com/office/drawing/2014/main" id="{5E597B68-6947-CCE2-1EE8-110EF507BA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Intelligent Modular System</a:t>
            </a:r>
          </a:p>
          <a:p>
            <a:pPr marL="0" lvl="1" indent="0">
              <a:buFont typeface="Arial" panose="020B0604020202020204" pitchFamily="34" charset="0"/>
              <a:buNone/>
            </a:pPr>
            <a:r>
              <a:t>The AI solution is modular and intelligent, designed for automation, prediction, and generating insights from data.</a:t>
            </a:r>
            <a:endParaRPr lang="en-US"/>
          </a:p>
          <a:p>
            <a:pPr marL="0" indent="0">
              <a:spcBef>
                <a:spcPts val="2500"/>
              </a:spcBef>
              <a:buFont typeface="Arial" panose="020B0604020202020204" pitchFamily="34" charset="0"/>
              <a:buNone/>
            </a:pPr>
            <a:r>
              <a:rPr lang="en-US" b="1"/>
              <a:t>Data Processing and Model Inference</a:t>
            </a:r>
          </a:p>
          <a:p>
            <a:pPr marL="0" lvl="1" indent="0">
              <a:buFont typeface="Arial" panose="020B0604020202020204" pitchFamily="34" charset="0"/>
              <a:buNone/>
            </a:pPr>
            <a:r>
              <a:t>Handles data ingestion, preprocessing, and machine learning model inference for pattern recognition and recommendations.</a:t>
            </a:r>
            <a:endParaRPr lang="en-US"/>
          </a:p>
          <a:p>
            <a:pPr marL="0" indent="0">
              <a:spcBef>
                <a:spcPts val="2500"/>
              </a:spcBef>
              <a:buFont typeface="Arial" panose="020B0604020202020204" pitchFamily="34" charset="0"/>
              <a:buNone/>
            </a:pPr>
            <a:r>
              <a:rPr lang="en-US" b="1"/>
              <a:t>Integration and Automation</a:t>
            </a:r>
          </a:p>
          <a:p>
            <a:pPr marL="0" lvl="1" indent="0">
              <a:buFont typeface="Arial" panose="020B0604020202020204" pitchFamily="34" charset="0"/>
              <a:buNone/>
            </a:pPr>
            <a:r>
              <a:t>Integrates AI decision logic into workflows reducing manual tasks while improving speed and accuracy.</a:t>
            </a:r>
            <a:endParaRPr lang="en-US"/>
          </a:p>
          <a:p>
            <a:pPr marL="0" indent="0">
              <a:spcBef>
                <a:spcPts val="2500"/>
              </a:spcBef>
              <a:buFont typeface="Arial" panose="020B0604020202020204" pitchFamily="34" charset="0"/>
              <a:buNone/>
            </a:pPr>
            <a:r>
              <a:rPr lang="en-US" b="1"/>
              <a:t>Scalability and Usability</a:t>
            </a:r>
          </a:p>
          <a:p>
            <a:pPr marL="0" lvl="1" indent="0">
              <a:buFont typeface="Arial" panose="020B0604020202020204" pitchFamily="34" charset="0"/>
              <a:buNone/>
            </a:pPr>
            <a:r>
              <a:t>Designed to scale with growing data and users, featuring intuitive dashboards for easy insight interpretation.</a:t>
            </a:r>
            <a:endParaRPr lang="en-US"/>
          </a:p>
        </p:txBody>
      </p:sp>
    </p:spTree>
    <p:extLst>
      <p:ext uri="{BB962C8B-B14F-4D97-AF65-F5344CB8AC3E}">
        <p14:creationId xmlns:p14="http://schemas.microsoft.com/office/powerpoint/2010/main" val="2577461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2C3C-8440-AADD-D44B-EF5B2681B0D3}"/>
              </a:ext>
            </a:extLst>
          </p:cNvPr>
          <p:cNvSpPr>
            <a:spLocks noGrp="1"/>
          </p:cNvSpPr>
          <p:nvPr>
            <p:ph type="title"/>
          </p:nvPr>
        </p:nvSpPr>
        <p:spPr>
          <a:xfrm>
            <a:off x="731520" y="3886200"/>
            <a:ext cx="3649468" cy="2048256"/>
          </a:xfrm>
        </p:spPr>
        <p:txBody>
          <a:bodyPr anchor="t">
            <a:normAutofit/>
          </a:bodyPr>
          <a:lstStyle/>
          <a:p>
            <a:r>
              <a:rPr lang="en-US"/>
              <a:t>Technology Stack and Tools</a:t>
            </a:r>
          </a:p>
        </p:txBody>
      </p:sp>
      <p:pic>
        <p:nvPicPr>
          <p:cNvPr id="5" name="Content Placeholder 4" descr="fourth industrial revolution technology concept">
            <a:extLst>
              <a:ext uri="{FF2B5EF4-FFF2-40B4-BE49-F238E27FC236}">
                <a16:creationId xmlns:a16="http://schemas.microsoft.com/office/drawing/2014/main" id="{02D92A66-68F9-4ACA-942A-4EC80CCE69B7}"/>
              </a:ext>
            </a:extLst>
          </p:cNvPr>
          <p:cNvPicPr>
            <a:picLocks noGrp="1" noChangeAspect="1"/>
          </p:cNvPicPr>
          <p:nvPr>
            <p:ph type="pic" sz="quarter" idx="15"/>
          </p:nvPr>
        </p:nvPicPr>
        <p:blipFill>
          <a:blip r:embed="rId3"/>
          <a:srcRect l="17629" r="28094" b="-2"/>
          <a:stretch>
            <a:fillRect/>
          </a:stretch>
        </p:blipFill>
        <p:spPr>
          <a:xfrm>
            <a:off x="731518" y="10"/>
            <a:ext cx="3520440" cy="3648446"/>
          </a:xfrm>
        </p:spPr>
      </p:pic>
      <p:sp>
        <p:nvSpPr>
          <p:cNvPr id="4" name="Content Placeholder 3">
            <a:extLst>
              <a:ext uri="{FF2B5EF4-FFF2-40B4-BE49-F238E27FC236}">
                <a16:creationId xmlns:a16="http://schemas.microsoft.com/office/drawing/2014/main" id="{0F15BCF6-B9D4-C653-C61E-31D0CD30515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Programming Language</a:t>
            </a:r>
          </a:p>
          <a:p>
            <a:pPr marL="0" lvl="1" indent="0">
              <a:buFont typeface="Arial" panose="020B0604020202020204" pitchFamily="34" charset="0"/>
              <a:buNone/>
            </a:pPr>
            <a:r>
              <a:t>Python is the primary language chosen for its extensive data science and machine learning ecosystem.</a:t>
            </a:r>
            <a:endParaRPr lang="en-US"/>
          </a:p>
          <a:p>
            <a:pPr marL="0" indent="0">
              <a:spcBef>
                <a:spcPts val="2500"/>
              </a:spcBef>
              <a:buFont typeface="Arial" panose="020B0604020202020204" pitchFamily="34" charset="0"/>
              <a:buNone/>
            </a:pPr>
            <a:r>
              <a:rPr lang="en-US" b="1"/>
              <a:t>Cloud Platforms</a:t>
            </a:r>
          </a:p>
          <a:p>
            <a:pPr marL="0" lvl="1" indent="0">
              <a:buFont typeface="Arial" panose="020B0604020202020204" pitchFamily="34" charset="0"/>
              <a:buNone/>
            </a:pPr>
            <a:r>
              <a:t>Cloud services such as Azure and AWS provide scalable hosting and compute resource management.</a:t>
            </a:r>
            <a:endParaRPr lang="en-US"/>
          </a:p>
          <a:p>
            <a:pPr marL="0" indent="0">
              <a:spcBef>
                <a:spcPts val="2500"/>
              </a:spcBef>
              <a:buFont typeface="Arial" panose="020B0604020202020204" pitchFamily="34" charset="0"/>
              <a:buNone/>
            </a:pPr>
            <a:r>
              <a:rPr lang="en-US" b="1"/>
              <a:t>Machine Learning and AI</a:t>
            </a:r>
          </a:p>
          <a:p>
            <a:pPr marL="0" lvl="1" indent="0">
              <a:buFont typeface="Arial" panose="020B0604020202020204" pitchFamily="34" charset="0"/>
              <a:buNone/>
            </a:pPr>
            <a:r>
              <a:t>Machine learning frameworks and generative AI models enable prediction, classification, and intelligent automation.</a:t>
            </a:r>
            <a:endParaRPr lang="en-US"/>
          </a:p>
          <a:p>
            <a:pPr marL="0" indent="0">
              <a:spcBef>
                <a:spcPts val="2500"/>
              </a:spcBef>
              <a:buFont typeface="Arial" panose="020B0604020202020204" pitchFamily="34" charset="0"/>
              <a:buNone/>
            </a:pPr>
            <a:r>
              <a:rPr lang="en-US" b="1"/>
              <a:t>Integration and Automation</a:t>
            </a:r>
          </a:p>
          <a:p>
            <a:pPr marL="0" lvl="1" indent="0">
              <a:buFont typeface="Arial" panose="020B0604020202020204" pitchFamily="34" charset="0"/>
              <a:buNone/>
            </a:pPr>
            <a:r>
              <a:t>APIs integrate system components while automation tools manage workflows and deployments efficiently.</a:t>
            </a:r>
            <a:endParaRPr lang="en-US"/>
          </a:p>
        </p:txBody>
      </p:sp>
    </p:spTree>
    <p:extLst>
      <p:ext uri="{BB962C8B-B14F-4D97-AF65-F5344CB8AC3E}">
        <p14:creationId xmlns:p14="http://schemas.microsoft.com/office/powerpoint/2010/main" val="4130322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337E-F5FA-5B16-CAF4-EE9F56849908}"/>
              </a:ext>
            </a:extLst>
          </p:cNvPr>
          <p:cNvSpPr>
            <a:spLocks noGrp="1"/>
          </p:cNvSpPr>
          <p:nvPr>
            <p:ph type="title"/>
          </p:nvPr>
        </p:nvSpPr>
        <p:spPr>
          <a:xfrm>
            <a:off x="731520" y="2596896"/>
            <a:ext cx="8933688" cy="3566160"/>
          </a:xfrm>
        </p:spPr>
        <p:txBody>
          <a:bodyPr anchor="b">
            <a:normAutofit/>
          </a:bodyPr>
          <a:lstStyle/>
          <a:p>
            <a:r>
              <a:rPr lang="en-US"/>
              <a:t>Architecture and Impact</a:t>
            </a:r>
          </a:p>
        </p:txBody>
      </p:sp>
    </p:spTree>
    <p:extLst>
      <p:ext uri="{BB962C8B-B14F-4D97-AF65-F5344CB8AC3E}">
        <p14:creationId xmlns:p14="http://schemas.microsoft.com/office/powerpoint/2010/main" val="28202080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4D37-D20D-58D3-15C2-BEFE777A6CBB}"/>
              </a:ext>
            </a:extLst>
          </p:cNvPr>
          <p:cNvSpPr>
            <a:spLocks noGrp="1"/>
          </p:cNvSpPr>
          <p:nvPr>
            <p:ph type="title"/>
          </p:nvPr>
        </p:nvSpPr>
        <p:spPr>
          <a:xfrm>
            <a:off x="731520" y="3886200"/>
            <a:ext cx="3649468" cy="2048256"/>
          </a:xfrm>
        </p:spPr>
        <p:txBody>
          <a:bodyPr anchor="t">
            <a:normAutofit/>
          </a:bodyPr>
          <a:lstStyle/>
          <a:p>
            <a:r>
              <a:rPr lang="en-US"/>
              <a:t>High-Level Architecture Design</a:t>
            </a:r>
          </a:p>
        </p:txBody>
      </p:sp>
      <p:pic>
        <p:nvPicPr>
          <p:cNvPr id="5" name="Content Placeholder 4" descr="Blockchain on technology background.Digital visualization of the token with lines and digital icons. The glowing lines of the included working servers, united in a single network.">
            <a:extLst>
              <a:ext uri="{FF2B5EF4-FFF2-40B4-BE49-F238E27FC236}">
                <a16:creationId xmlns:a16="http://schemas.microsoft.com/office/drawing/2014/main" id="{6BAA4C1C-2462-4C9C-A5F5-E2AA4F894CFF}"/>
              </a:ext>
            </a:extLst>
          </p:cNvPr>
          <p:cNvPicPr>
            <a:picLocks noGrp="1" noChangeAspect="1"/>
          </p:cNvPicPr>
          <p:nvPr>
            <p:ph type="pic" sz="quarter" idx="15"/>
          </p:nvPr>
        </p:nvPicPr>
        <p:blipFill>
          <a:blip r:embed="rId3"/>
          <a:srcRect l="32348" r="16752" b="-1"/>
          <a:stretch>
            <a:fillRect/>
          </a:stretch>
        </p:blipFill>
        <p:spPr>
          <a:xfrm>
            <a:off x="731518" y="10"/>
            <a:ext cx="3520440" cy="3648446"/>
          </a:xfrm>
        </p:spPr>
      </p:pic>
      <p:sp>
        <p:nvSpPr>
          <p:cNvPr id="4" name="Content Placeholder 3">
            <a:extLst>
              <a:ext uri="{FF2B5EF4-FFF2-40B4-BE49-F238E27FC236}">
                <a16:creationId xmlns:a16="http://schemas.microsoft.com/office/drawing/2014/main" id="{F0F07D26-572E-AE24-3147-F6E8D328F3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Layered Modular Architecture</a:t>
            </a:r>
          </a:p>
          <a:p>
            <a:pPr marL="0" lvl="1" indent="0">
              <a:buFont typeface="Arial" panose="020B0604020202020204" pitchFamily="34" charset="0"/>
              <a:buNone/>
            </a:pPr>
            <a:r>
              <a:t>The AI system employs a layered modular design for clarity, scalability, and ease of maintenance.</a:t>
            </a:r>
            <a:endParaRPr lang="en-US"/>
          </a:p>
          <a:p>
            <a:pPr marL="0" indent="0">
              <a:spcBef>
                <a:spcPts val="2500"/>
              </a:spcBef>
              <a:buFont typeface="Arial" panose="020B0604020202020204" pitchFamily="34" charset="0"/>
              <a:buNone/>
            </a:pPr>
            <a:r>
              <a:rPr lang="en-US" b="1"/>
              <a:t>Data Layer Functions</a:t>
            </a:r>
          </a:p>
          <a:p>
            <a:pPr marL="0" lvl="1" indent="0">
              <a:buFont typeface="Arial" panose="020B0604020202020204" pitchFamily="34" charset="0"/>
              <a:buNone/>
            </a:pPr>
            <a:r>
              <a:t>The data layer manages ingestion from diverse sources and preprocesses data to ensure quality.</a:t>
            </a:r>
            <a:endParaRPr lang="en-US"/>
          </a:p>
          <a:p>
            <a:pPr marL="0" indent="0">
              <a:spcBef>
                <a:spcPts val="2500"/>
              </a:spcBef>
              <a:buFont typeface="Arial" panose="020B0604020202020204" pitchFamily="34" charset="0"/>
              <a:buNone/>
            </a:pPr>
            <a:r>
              <a:rPr lang="en-US" b="1"/>
              <a:t>AI Layer Capabilities</a:t>
            </a:r>
          </a:p>
          <a:p>
            <a:pPr marL="0" lvl="1" indent="0">
              <a:buFont typeface="Arial" panose="020B0604020202020204" pitchFamily="34" charset="0"/>
              <a:buNone/>
            </a:pPr>
            <a:r>
              <a:t>Responsible for model training, inference, and continuous learning for system improvement.</a:t>
            </a:r>
            <a:endParaRPr lang="en-US"/>
          </a:p>
          <a:p>
            <a:pPr marL="0" indent="0">
              <a:spcBef>
                <a:spcPts val="2500"/>
              </a:spcBef>
              <a:buFont typeface="Arial" panose="020B0604020202020204" pitchFamily="34" charset="0"/>
              <a:buNone/>
            </a:pPr>
            <a:r>
              <a:rPr lang="en-US" b="1"/>
              <a:t>Business Logic and Presentation</a:t>
            </a:r>
          </a:p>
          <a:p>
            <a:pPr marL="0" lvl="1" indent="0">
              <a:buFont typeface="Arial" panose="020B0604020202020204" pitchFamily="34" charset="0"/>
              <a:buNone/>
            </a:pPr>
            <a:r>
              <a:t>Integrates AI outputs into workflows and provides user interfaces for visualization and interaction.</a:t>
            </a:r>
            <a:endParaRPr lang="en-US"/>
          </a:p>
        </p:txBody>
      </p:sp>
    </p:spTree>
    <p:extLst>
      <p:ext uri="{BB962C8B-B14F-4D97-AF65-F5344CB8AC3E}">
        <p14:creationId xmlns:p14="http://schemas.microsoft.com/office/powerpoint/2010/main" val="1494295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2970-CC19-E35C-72EC-889FDA6A6AC0}"/>
              </a:ext>
            </a:extLst>
          </p:cNvPr>
          <p:cNvSpPr>
            <a:spLocks noGrp="1"/>
          </p:cNvSpPr>
          <p:nvPr>
            <p:ph type="title"/>
          </p:nvPr>
        </p:nvSpPr>
        <p:spPr>
          <a:xfrm>
            <a:off x="731520" y="312572"/>
            <a:ext cx="6858000" cy="923544"/>
          </a:xfrm>
        </p:spPr>
        <p:txBody>
          <a:bodyPr anchor="b">
            <a:normAutofit/>
          </a:bodyPr>
          <a:lstStyle/>
          <a:p>
            <a:r>
              <a:rPr lang="en-US"/>
              <a:t>Business Impact and Value Creation</a:t>
            </a:r>
          </a:p>
        </p:txBody>
      </p:sp>
      <p:sp>
        <p:nvSpPr>
          <p:cNvPr id="4" name="Content Placeholder 3">
            <a:extLst>
              <a:ext uri="{FF2B5EF4-FFF2-40B4-BE49-F238E27FC236}">
                <a16:creationId xmlns:a16="http://schemas.microsoft.com/office/drawing/2014/main" id="{3E1370ED-80CB-B602-6BB2-01D877D9FA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Automation and Efficiency</a:t>
            </a:r>
          </a:p>
          <a:p>
            <a:pPr marL="0" lvl="1" indent="0">
              <a:buFont typeface="Arial" panose="020B0604020202020204" pitchFamily="34" charset="0"/>
              <a:buNone/>
            </a:pPr>
            <a:r>
              <a:t>Automation reduces turnaround time, enabling faster service delivery and improved operational efficiency.</a:t>
            </a:r>
            <a:endParaRPr lang="en-US"/>
          </a:p>
          <a:p>
            <a:pPr marL="0" indent="0">
              <a:spcBef>
                <a:spcPts val="2500"/>
              </a:spcBef>
              <a:buFont typeface="Arial" panose="020B0604020202020204" pitchFamily="34" charset="0"/>
              <a:buNone/>
            </a:pPr>
            <a:r>
              <a:rPr lang="en-US" b="1"/>
              <a:t>Data-Driven Decision Making</a:t>
            </a:r>
          </a:p>
          <a:p>
            <a:pPr marL="0" lvl="1" indent="0">
              <a:buFont typeface="Arial" panose="020B0604020202020204" pitchFamily="34" charset="0"/>
              <a:buNone/>
            </a:pPr>
            <a:r>
              <a:t>AI provides data-backed recommendations that enhance decision accuracy beyond intuition-based judgments.</a:t>
            </a:r>
            <a:endParaRPr lang="en-US"/>
          </a:p>
          <a:p>
            <a:pPr marL="0" indent="0">
              <a:spcBef>
                <a:spcPts val="2500"/>
              </a:spcBef>
              <a:buFont typeface="Arial" panose="020B0604020202020204" pitchFamily="34" charset="0"/>
              <a:buNone/>
            </a:pPr>
            <a:r>
              <a:rPr lang="en-US" b="1"/>
              <a:t>Scalability and Cost Optimization</a:t>
            </a:r>
          </a:p>
          <a:p>
            <a:pPr marL="0" lvl="1" indent="0">
              <a:buFont typeface="Arial" panose="020B0604020202020204" pitchFamily="34" charset="0"/>
              <a:buNone/>
            </a:pPr>
            <a:r>
              <a:t>Scalable AI solutions handle growing workloads without proportional cost increases, optimizing expenses.</a:t>
            </a:r>
            <a:endParaRPr lang="en-US"/>
          </a:p>
          <a:p>
            <a:pPr marL="0" indent="0">
              <a:spcBef>
                <a:spcPts val="2500"/>
              </a:spcBef>
              <a:buFont typeface="Arial" panose="020B0604020202020204" pitchFamily="34" charset="0"/>
              <a:buNone/>
            </a:pPr>
            <a:r>
              <a:rPr lang="en-US" b="1"/>
              <a:t>Productivity and Competitive Advantage</a:t>
            </a:r>
          </a:p>
          <a:p>
            <a:pPr marL="0" lvl="1" indent="0">
              <a:buFont typeface="Arial" panose="020B0604020202020204" pitchFamily="34" charset="0"/>
              <a:buNone/>
            </a:pPr>
            <a:r>
              <a:t>Productivity gains allow focus on strategic tasks, boosting customer satisfaction and competitive edge.</a:t>
            </a:r>
            <a:endParaRPr lang="en-US"/>
          </a:p>
        </p:txBody>
      </p:sp>
      <p:pic>
        <p:nvPicPr>
          <p:cNvPr id="5" name="Content Placeholder 4" descr="Solving problem concept with two businessman. First with search symbol instead of head, second with &quot; idea&quot; symbol. Between is data cloud with progress / thinking / growth symbols.">
            <a:extLst>
              <a:ext uri="{FF2B5EF4-FFF2-40B4-BE49-F238E27FC236}">
                <a16:creationId xmlns:a16="http://schemas.microsoft.com/office/drawing/2014/main" id="{F969ECBD-4305-4003-B2DD-5404ECC0BF3A}"/>
              </a:ext>
            </a:extLst>
          </p:cNvPr>
          <p:cNvPicPr>
            <a:picLocks noGrp="1" noChangeAspect="1"/>
          </p:cNvPicPr>
          <p:nvPr>
            <p:ph type="pic" sz="quarter" idx="15"/>
          </p:nvPr>
        </p:nvPicPr>
        <p:blipFill>
          <a:blip r:embed="rId3"/>
          <a:srcRect l="30502" r="22950" b="1"/>
          <a:stretch>
            <a:fillRect/>
          </a:stretch>
        </p:blipFill>
        <p:spPr>
          <a:xfrm>
            <a:off x="8491126" y="603504"/>
            <a:ext cx="3085177" cy="5202936"/>
          </a:xfrm>
        </p:spPr>
      </p:pic>
    </p:spTree>
    <p:extLst>
      <p:ext uri="{BB962C8B-B14F-4D97-AF65-F5344CB8AC3E}">
        <p14:creationId xmlns:p14="http://schemas.microsoft.com/office/powerpoint/2010/main" val="1034160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B0BC-A816-5C2B-3AFD-BB5A80BDC3FA}"/>
              </a:ext>
            </a:extLst>
          </p:cNvPr>
          <p:cNvSpPr>
            <a:spLocks noGrp="1"/>
          </p:cNvSpPr>
          <p:nvPr>
            <p:ph type="title"/>
          </p:nvPr>
        </p:nvSpPr>
        <p:spPr>
          <a:xfrm>
            <a:off x="731520" y="2596896"/>
            <a:ext cx="8933688" cy="3566160"/>
          </a:xfrm>
        </p:spPr>
        <p:txBody>
          <a:bodyPr anchor="b">
            <a:normAutofit/>
          </a:bodyPr>
          <a:lstStyle/>
          <a:p>
            <a:r>
              <a:rPr lang="en-US"/>
              <a:t>Demonstration and Future</a:t>
            </a:r>
          </a:p>
        </p:txBody>
      </p:sp>
    </p:spTree>
    <p:extLst>
      <p:ext uri="{BB962C8B-B14F-4D97-AF65-F5344CB8AC3E}">
        <p14:creationId xmlns:p14="http://schemas.microsoft.com/office/powerpoint/2010/main" val="1835288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428D9-2CE3-E088-9DF4-16CF71808AE2}"/>
              </a:ext>
            </a:extLst>
          </p:cNvPr>
          <p:cNvSpPr>
            <a:spLocks noGrp="1"/>
          </p:cNvSpPr>
          <p:nvPr>
            <p:ph type="title"/>
          </p:nvPr>
        </p:nvSpPr>
        <p:spPr>
          <a:xfrm>
            <a:off x="1033272" y="347472"/>
            <a:ext cx="9985248" cy="960120"/>
          </a:xfrm>
        </p:spPr>
        <p:txBody>
          <a:bodyPr anchor="b">
            <a:normAutofit/>
          </a:bodyPr>
          <a:lstStyle/>
          <a:p>
            <a:r>
              <a:rPr lang="en-US"/>
              <a:t>Future Roadmap and Conclusion</a:t>
            </a:r>
          </a:p>
        </p:txBody>
      </p:sp>
      <p:graphicFrame>
        <p:nvGraphicFramePr>
          <p:cNvPr id="4" name="Content Placeholder 3">
            <a:extLst>
              <a:ext uri="{FF2B5EF4-FFF2-40B4-BE49-F238E27FC236}">
                <a16:creationId xmlns:a16="http://schemas.microsoft.com/office/drawing/2014/main" id="{DFE718D3-D1E9-4661-BFFA-E3E81EA9BEE2}"/>
              </a:ext>
            </a:extLst>
          </p:cNvPr>
          <p:cNvGraphicFramePr>
            <a:graphicFrameLocks noGrp="1"/>
          </p:cNvGraphicFramePr>
          <p:nvPr>
            <p:ph idx="1"/>
            <p:extLst>
              <p:ext uri="{D42A27DB-BD31-4B8C-83A1-F6EECF244321}">
                <p14:modId xmlns:p14="http://schemas.microsoft.com/office/powerpoint/2010/main" val="392414799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33272" y="1563624"/>
          <a:ext cx="9985248"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7912460"/>
      </p:ext>
    </p:extLst>
  </p:cSld>
  <p:clrMapOvr>
    <a:masterClrMapping/>
  </p:clrMapOvr>
  <p:transition>
    <p:fade/>
  </p:transition>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2198</Words>
  <Application>Microsoft Office PowerPoint</Application>
  <PresentationFormat>Widescreen</PresentationFormat>
  <Paragraphs>117</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Avenir Next LT Pro</vt:lpstr>
      <vt:lpstr>Avenir Next LT Pro Light</vt:lpstr>
      <vt:lpstr>Bookman Old Style</vt:lpstr>
      <vt:lpstr>Calibri</vt:lpstr>
      <vt:lpstr>Neue Haas Grotesk Text Pro</vt:lpstr>
      <vt:lpstr>GradientRise</vt:lpstr>
      <vt:lpstr>Retail Product Descriptor Generator</vt:lpstr>
      <vt:lpstr>PowerPoint Presentation</vt:lpstr>
      <vt:lpstr>Problem Statement</vt:lpstr>
      <vt:lpstr>Technology approach</vt:lpstr>
      <vt:lpstr>PowerPoint Presentation</vt:lpstr>
      <vt:lpstr>PowerPoint Presentation</vt:lpstr>
      <vt:lpstr>Opportunity for AI-Driven Transformation</vt:lpstr>
      <vt:lpstr>Solution and Technology</vt:lpstr>
      <vt:lpstr>Proposed AI Solution Overview</vt:lpstr>
      <vt:lpstr>Technology Stack and Tools</vt:lpstr>
      <vt:lpstr>Architecture and Impact</vt:lpstr>
      <vt:lpstr>High-Level Architecture Design</vt:lpstr>
      <vt:lpstr>Business Impact and Value Creation</vt:lpstr>
      <vt:lpstr>Demonstration and Future</vt:lpstr>
      <vt:lpstr>Future Roadmap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suham.chatterjee.tcs@cromaretail.com</dc:creator>
  <cp:lastModifiedBy>Suham Chatterjee</cp:lastModifiedBy>
  <cp:revision>1</cp:revision>
  <dcterms:modified xsi:type="dcterms:W3CDTF">2026-04-09T14:23:29Z</dcterms:modified>
</cp:coreProperties>
</file>